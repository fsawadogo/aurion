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2286000" y="-1371600"/>
            <a:ext cx="9144000" cy="9144000"/>
          </a:xfrm>
          <a:prstGeom prst="ellipse">
            <a:avLst/>
          </a:prstGeom>
          <a:solidFill>
            <a:srgbClr val="16284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237744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D4A64A"/>
                </a:solidFill>
              </a:rPr>
              <a:t>AURION CLINICAL AI · MVP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SF Pro Display"/>
              </a:rPr>
              <a:t>What's In, What's Out,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B8C2D8"/>
                </a:solidFill>
              </a:rPr>
              <a:t>MVP Pilot Definition — Clinic Mode · Descriptive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D4A64A"/>
                </a:solidFill>
              </a:rPr>
              <a:t>Faïçal Sawadogo · Co-Founder &amp; CTO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WHAT MVP MEANS FOR AURION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The Two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0879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i="1">
                <a:solidFill>
                  <a:srgbClr val="B8C2D8"/>
                </a:solidFill>
              </a:rPr>
              <a:t>Everything we build for the pilot lives inside these two boundaries. Anything outside them is explicitly out of scope.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5349240" cy="42976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BOUNDARY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51760"/>
            <a:ext cx="4617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F Pro Display"/>
              </a:rPr>
              <a:t>Clinic Mode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29000"/>
            <a:ext cx="4617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>
                <a:solidFill>
                  <a:srgbClr val="B8C2D8"/>
                </a:solidFill>
              </a:rPr>
              <a:t>In-office or in-clinic visits. The clinician presses record once at the start of a patient encounter and once at the end. No mid-visit interaction is required.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B8C2D8"/>
                </a:solidFill>
              </a:rPr>
              <a:t>Operating-room, procedural, and post-op modes are not in MVP. Those have different capture rhythms (timed checkpoints, sterile environments) and will come after the pilot proves the core experience.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349240" cy="42976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2286000"/>
            <a:ext cx="4617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4A64A"/>
                </a:solidFill>
              </a:rPr>
              <a:t>BOUNDARY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651760"/>
            <a:ext cx="4617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F Pro Display"/>
              </a:rPr>
              <a:t>Descriptive Model of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429000"/>
            <a:ext cx="46177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>
                <a:solidFill>
                  <a:srgbClr val="B8C2D8"/>
                </a:solidFill>
              </a:rPr>
              <a:t>Aurion documents what was observed and what was said. It does not diagnose, suggest treatments, or interpret clinical meaning. The clinician retains full clinical accountability.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B8C2D8"/>
                </a:solidFill>
              </a:rPr>
              <a:t>This is a product, legal, and regulatory boundary. Every AI call in the system enforces it. If output ever crosses this line, it is wrong — regardless of how technically correct it sounds.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ESSENTIAL FEATURES · 1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What's In — Capture &amp; Privacy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1143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D32"/>
                </a:solidFill>
              </a:rPr>
              <a:t>✓  IN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47672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Continuous A/V Capture — Clinic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Full audio and video capture from the start to the end of a visit. The clinician presses record once, and no mid-visit interaction is required.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916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60" y="1947672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8" y="19202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Audio Transcription with Visual Frame Tagging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51460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Audio is transcribed in full, and video frames are extracted and tagged to transcript segments to create a citation-anchored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691640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22208" y="1947672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192024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Screen Capture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514600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Captures EMR screens, lab results, imaging, and other clinical data viewed during the visit as a separate stream to be incorporated into the note.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46604" y="4224528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802636" y="448056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15284" y="44531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On-device PHI Masking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0924" y="5047488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All patient identifiers are detected and masked on-device before any further processing — applied to both video frames and screen capture.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9652" y="4224528"/>
            <a:ext cx="3611880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615684" y="448056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8332" y="4453128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Multi-device Hardware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3972" y="5047488"/>
            <a:ext cx="3063240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Support for smart glasses, body cam, and phone/tablet as valid capture devices.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01752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ESSENTIAL FEATURES · 2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What's In — Note Generation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0" y="114300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E7D32"/>
                </a:solidFill>
              </a:rPr>
              <a:t>✓  IN SCOPE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6112" y="1947672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20240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Template-aware AI Note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486460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A structured clinical note is generated from the full capture stream, mapped to the selected specialty template, with every claim anchored to a source transcript segment or visual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4496" y="1691640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10528" y="1947672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3176" y="1920240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Clinician Review, Edit, and Approval Workflow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514600"/>
            <a:ext cx="486460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The note is not finalized without explicit clinician review and approval — the clinician retains full clinical accountability. Two-stage processing: Audio-First Draft, then Video Frame Extraction and Full Note Generation.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24528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6112" y="448056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453128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Patient Consent Capture and Audit Trail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47488"/>
            <a:ext cx="486460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Consent is recorded before every session, with a hard block on capture if consent is not confirmed. Paper-based for MVP.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4496" y="4224528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10528" y="4480560"/>
            <a:ext cx="411480" cy="41148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81226"/>
                </a:solidFill>
                <a:latin typeface="SF Pro Display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23176" y="4453128"/>
            <a:ext cx="43159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F Pro Display"/>
              </a:rPr>
              <a:t>Editable Export and Raw Data Purge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5047488"/>
            <a:ext cx="4864608" cy="1325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B8C2D8"/>
                </a:solidFill>
                <a:latin typeface="SF Pro Display"/>
              </a:rPr>
              <a:t>The approved note exports as plain text or DOCX. All raw audio/video is purged from the device upon export, while masked evaluation frames are retained in a secure internal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NOT IN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What's Out — Explicit Exclusions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784080" y="11430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57F17"/>
                </a:solidFill>
              </a:rPr>
              <a:t>✗  EXCLUDED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1892808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562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Post-Op / Procedural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Different capture rhythm — milestone-triggered, OR sterile environment. Planned for next version.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69164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681728" y="1892808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8562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Voice triggers for record start/stop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Clinician taps to start/stop. Voice activation introduces false-positive risk in a clinical setting.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6" y="169164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494776" y="1892808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06256" y="18562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EMR / EHR direct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6" y="2377440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Notes export as copy-paste-ready DOCX / plain text. Direct integration arrives with the first hospital contract.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10712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" y="3611880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57530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Real-time diagnostic AI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Permanently out of MVP scope. Aurion documents — it does not diagnose or interpret.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53128" y="3410712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4681728" y="3611880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357530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Multi-language support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27448" y="40965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English only for the pilot. French templates require clinician validation before launch.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6" y="3410712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494776" y="3611880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3575304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Digital in-app patient consent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0496" y="4096512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Paper consent plus scan for MVP. In-app digital consent needs legal review first.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29784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68680" y="5330952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52943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Documentation quality dashboard for admins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815584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No meaningful data exists until the pilot generates sessions. Build dashboards after data exists.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3128" y="5129784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81728" y="5330952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52943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Clinician-facing eval frame viewer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27448" y="5815584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Eval frames retained server-side only. Clinicians review the note, not the raw 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66176" y="5129784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8494776" y="5330952"/>
            <a:ext cx="292608" cy="292608"/>
          </a:xfrm>
          <a:prstGeom prst="ellipse">
            <a:avLst/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57F17"/>
                </a:solidFill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06256" y="5294376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</a:rPr>
              <a:t>LLM training or fine-tuning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0496" y="5815584"/>
            <a:ext cx="306324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>
                <a:solidFill>
                  <a:srgbClr val="B8C2D8"/>
                </a:solidFill>
              </a:rPr>
              <a:t>MVP uses pre-trained models. Fine-tuning requires a labelled dataset that doesn't exist yet — the pilot generates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2608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THE WHOLE SCOPE ON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40680" cy="5212080"/>
          </a:xfrm>
          <a:prstGeom prst="roundRect">
            <a:avLst>
              <a:gd name="adj" fmla="val 4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E7D32"/>
                </a:solidFill>
              </a:rPr>
              <a:t>✓  WHAT'S IN  ·  9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1554480"/>
            <a:ext cx="4983480" cy="502920"/>
          </a:xfrm>
          <a:prstGeom prst="roundRect">
            <a:avLst>
              <a:gd name="adj" fmla="val 50000"/>
            </a:avLst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618488"/>
            <a:ext cx="4892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7D32"/>
                </a:solidFill>
              </a:rPr>
              <a:t>✓  WHAT'S IN  ·  9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48920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1.  Continuous A/V Capture — Clinic Mode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2.  Audio Transcription with Visual Frame Tagging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3.  Screen Capture (EMR, labs, imaging)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4.  On-device PHI Masking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5.  Template-aware AI Note Generation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6.  Clinician Review, Edit, Approval (2-stage)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7.  Patient Consent Capture + Audit Trail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8.  Editable Export + Raw Data Purge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9.  Multi-device Hardware Support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25880"/>
            <a:ext cx="5440680" cy="5212080"/>
          </a:xfrm>
          <a:prstGeom prst="roundRect">
            <a:avLst>
              <a:gd name="adj" fmla="val 4000"/>
            </a:avLst>
          </a:prstGeom>
          <a:solidFill>
            <a:srgbClr val="162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92240" y="1554480"/>
            <a:ext cx="4983480" cy="502920"/>
          </a:xfrm>
          <a:prstGeom prst="roundRect">
            <a:avLst>
              <a:gd name="adj" fmla="val 50000"/>
            </a:avLst>
          </a:prstGeom>
          <a:solidFill>
            <a:srgbClr val="FFF5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18488"/>
            <a:ext cx="4892040" cy="4572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l"/>
            <a:r>
              <a:rPr sz="1300" b="1">
                <a:solidFill>
                  <a:srgbClr val="F57F17"/>
                </a:solidFill>
              </a:rPr>
              <a:t>✗  WHAT'S OUT  ·  9 EXCLUSIONS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8920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Post-Op / Procedural Mode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Voice triggers for record start/stop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EMR / EHR direct integration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Real-time diagnostic AI inference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Multi-language support (English only)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Digital in-app patient consent UI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Documentation quality dashboard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Clinician-facing eval frame viewer</a:t>
            </a:r>
          </a:p>
          <a:p>
            <a:pPr>
              <a:spcAft>
                <a:spcPts val="600"/>
              </a:spcAft>
            </a:pPr>
            <a:r>
              <a:rPr sz="1300" dirty="0">
                <a:solidFill>
                  <a:srgbClr val="FFFFFF"/>
                </a:solidFill>
              </a:rPr>
              <a:t>•  LLM training or fine-tuning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92640" y="292608"/>
            <a:ext cx="22860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100" b="1">
                <a:solidFill>
                  <a:srgbClr val="D4A64A"/>
                </a:solidFill>
                <a:latin typeface="SF Pro Display"/>
              </a:rPr>
              <a:t>AURION · MVP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731520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D4A64A"/>
                </a:solidFill>
                <a:latin typeface="SF Pro Display"/>
              </a:rPr>
              <a:t>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SF Pro Display"/>
              </a:rPr>
              <a:t>Why We Drew the Line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0120"/>
            <a:ext cx="10908792" cy="1905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08792" cy="5212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Prove the core experience first</a:t>
            </a:r>
          </a:p>
          <a:p>
            <a:pPr>
              <a:spcAft>
                <a:spcPts val="200"/>
              </a:spcAft>
            </a:pPr>
            <a:r>
              <a:rPr sz="1300"/>
              <a:t>  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Clinic Mode is the highest-volume, highest-frequency clinical context. If we can't reduce documentation burden here, no other mode will save us. Everything excluded is a feature we can add later — none of it changes the foundation we're testing.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Keep the regulatory boundary clean</a:t>
            </a:r>
          </a:p>
          <a:p>
            <a:pPr>
              <a:spcAft>
                <a:spcPts val="200"/>
              </a:spcAft>
            </a:pPr>
            <a:r>
              <a:rPr sz="1300"/>
              <a:t>  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Descriptive Model means Aurion never makes a clinical claim. That single decision is what lets us launch a pilot without a Health Canada medical-device class. Real-time diagnostic inference would change the regulatory category overnight.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Build trust before automation</a:t>
            </a:r>
          </a:p>
          <a:p>
            <a:pPr>
              <a:spcAft>
                <a:spcPts val="200"/>
              </a:spcAft>
            </a:pPr>
            <a:r>
              <a:rPr sz="1300"/>
              <a:t>  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Clinician review, paper consent, and explicit purge are deliberate friction. They make the pilot defensible to compliance, IT, and patients. Voice triggers and digital consent are nice — but only after the rest is trusted.</a:t>
            </a:r>
          </a:p>
          <a:p>
            <a:pPr>
              <a:spcBef>
                <a:spcPts val="1400"/>
              </a:spcBef>
            </a:pPr>
            <a:r>
              <a:rPr sz="1700" b="1">
                <a:solidFill>
                  <a:srgbClr val="D4A64A"/>
                </a:solidFill>
              </a:rPr>
              <a:t>●  </a:t>
            </a:r>
            <a:r>
              <a:rPr sz="1700" b="1">
                <a:solidFill>
                  <a:srgbClr val="FFFFFF"/>
                </a:solidFill>
                <a:latin typeface="SF Pro Display"/>
              </a:rPr>
              <a:t>Generate the data we need for v1</a:t>
            </a:r>
          </a:p>
          <a:p>
            <a:pPr>
              <a:spcAft>
                <a:spcPts val="200"/>
              </a:spcAft>
            </a:pPr>
            <a:r>
              <a:rPr sz="1300"/>
              <a:t>      </a:t>
            </a:r>
            <a:r>
              <a:rPr sz="1300">
                <a:solidFill>
                  <a:srgbClr val="B8C2D8"/>
                </a:solidFill>
                <a:latin typeface="SF Pro Display"/>
              </a:rPr>
              <a:t>Things like LLM fine-tuning, the quality dashboard, and the eval frame viewer all require pilot data to exist first. We get that data by running the MVP cleanly.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52160" y="2560320"/>
            <a:ext cx="457200" cy="45720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0879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Anything we should be in or out?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0879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D4A64A"/>
                </a:solidFill>
              </a:rPr>
              <a:t>Discussion · Decision · Lock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0879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B8C2D8"/>
                </a:solidFill>
              </a:rPr>
              <a:t>AURION CLINICAL AI  ·  MVP SCOPE  ·  MAY 2026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1126</Words>
  <Application>Microsoft Macintosh PowerPoint</Application>
  <PresentationFormat>Widescreen</PresentationFormat>
  <Paragraphs>120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SF Pro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Faïçal Sawadogo</cp:lastModifiedBy>
  <cp:revision>2</cp:revision>
  <dcterms:created xsi:type="dcterms:W3CDTF">2013-01-27T09:14:16Z</dcterms:created>
  <dcterms:modified xsi:type="dcterms:W3CDTF">2026-05-11T21:59:46Z</dcterms:modified>
  <cp:category/>
</cp:coreProperties>
</file>