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1371600"/>
            <a:ext cx="9144000" cy="9144000"/>
          </a:xfrm>
          <a:prstGeom prst="ellipse">
            <a:avLst/>
          </a:prstGeom>
          <a:solidFill>
            <a:srgbClr val="16284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377440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4A64A"/>
                </a:solidFill>
              </a:rPr>
              <a:t>AURION CLINICAL AI · COST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F Pro Display"/>
              </a:rPr>
              <a:t>What It Costs to Run Aurion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8C2D8"/>
                </a:solidFill>
              </a:rPr>
              <a:t>Cloud · AI · App Store · Compliance  ·  Pilot → Hospital → Multi-site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A64A"/>
                </a:solidFill>
              </a:rPr>
              <a:t>All figures in CAD · AWS ca-central-1 · May 2026 pricing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VOLUME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Three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93592" cy="420624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64A"/>
                </a:solidFill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44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CREOQ / CLLC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044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D4A64A"/>
                </a:solidFill>
              </a:rPr>
              <a:t>3–5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3044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8C2D8"/>
                </a:solidFill>
              </a:rPr>
              <a:t>clinicians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3044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≈ 200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3044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8C2D8"/>
                </a:solidFill>
              </a:rPr>
              <a:t>10 sessions per clinician per week. 22 work days. ~5 minute average recording.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371600"/>
            <a:ext cx="3593592" cy="420624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600200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64A"/>
                </a:solidFill>
              </a:rPr>
              <a:t>HOSPITAL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920240"/>
            <a:ext cx="3044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Single 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468880"/>
            <a:ext cx="3044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D4A64A"/>
                </a:solidFill>
              </a:rP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74720"/>
            <a:ext cx="3044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8C2D8"/>
                </a:solidFill>
              </a:rPr>
              <a:t>clinicians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977640"/>
            <a:ext cx="3044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≈ 5,500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389120"/>
            <a:ext cx="3044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8C2D8"/>
                </a:solidFill>
              </a:rPr>
              <a:t>5 sessions per clinician per day. Same compute scales horizontally on Fargate.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371600"/>
            <a:ext cx="3593592" cy="420624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600200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64A"/>
                </a:solidFill>
              </a:rPr>
              <a:t>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1920240"/>
            <a:ext cx="3044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Multi-site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468880"/>
            <a:ext cx="3044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D4A64A"/>
                </a:solidFill>
              </a:rPr>
              <a:t>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474720"/>
            <a:ext cx="3044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8C2D8"/>
                </a:solidFill>
              </a:rPr>
              <a:t>clinicians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977640"/>
            <a:ext cx="3044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≈ 55,000 /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389120"/>
            <a:ext cx="3044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8C2D8"/>
                </a:solidFill>
              </a:rPr>
              <a:t>Across multiple hospitals or clinic networks. Reserved capacity savings apply.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LAUNCH &amp;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One-Time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6126480"/>
                <a:gridCol w="1673352"/>
              </a:tblGrid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Item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Notes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Cost (CAD)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Apple Developer Program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Required to publish to App Store. Annual renewal — counts as recurring after year 1.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$135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Domain (aurionclinical.com)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Registration + renewal. Route 53 hosted zone $0.50/mo.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$25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HIPAA / Quebec Law 25 risk assessment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External counsel + privacy impact assessment. One-time pilot prep.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$8,000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Penetration test (pre-pilot)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Third-party security firm. Required before live patient data.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$6,000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Legal review — BAAs, consent forms, ToS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OpenAI/Anthropic/Google BAAs + patient consent paperwork + privacy policy.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$5,000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App Store screenshot + asset prep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Marketing assets, demo video, App Store listing.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$1,500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TOTAL ONE-TIME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Before first patient visit. Clinicians use their own iPhone for capture.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$20,660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MONTHLY · CA-CENTRAL-1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AWS Infrastructure —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931920"/>
                <a:gridCol w="2651760"/>
                <a:gridCol w="1005840"/>
                <a:gridCol w="1399032"/>
              </a:tblGrid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AWS Service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What For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Sizing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Type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$/mo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ECS Fargate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FastAPI backend (2 tasks, HA)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2 × 0.5 vCPU / 1 GB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Fixed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$95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Application Load Balancer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TLS termination + routing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1 ALB + ~50 LCU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Fixed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$30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RDS PostgreSQL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Sessions, notes, profiles, metrics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db.t4g.small Multi-AZ, 20 GB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Fixed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$110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DynamoDB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Append-only audit log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On-demand, ~1 M writes/mo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Variable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$15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S3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Audio (&lt;1h TTL), frames (24h TTL), eval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~50 GB peak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Variable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$10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Whisper GPU instance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Self-hosted speech-to-text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g4dn.xlarge, scheduled clinic hours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Fixed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$165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KMS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Encryption keys for S3, RDS, DDB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5 customer-managed keys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Fixed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$8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Comprehend Medical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Server-side PHI audit on transcripts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~50 K units / mo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Variable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$30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Textract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Lab/imaging screen OCR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~2 K pages / mo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Variable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$45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AppConfig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Runtime config + feature flags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Polling 30 s, &lt;100 K reqs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Fixed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CloudWatch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Logs, metrics, alarms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Default retention, 5 GB ingest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Fixed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$20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Cognito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User authentication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&lt;50 MAU — free tier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Fixed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Data transfer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Outbound API + frame uploads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~20 GB / mo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Variable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SF Pro Display"/>
                        </a:rPr>
                        <a:t>$15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329184"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081226"/>
                          </a:solidFill>
                          <a:latin typeface="SF Pro Display"/>
                        </a:rPr>
                        <a:t>AWS SUBTOTAL — PILOT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081226"/>
                          </a:solidFill>
                          <a:latin typeface="SF Pro Display"/>
                        </a:rPr>
                        <a:t>Fixed $433  ·  Variable $115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081226"/>
                          </a:solidFill>
                          <a:latin typeface="SF Pro Display"/>
                        </a:rPr>
                        <a:t/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081226"/>
                          </a:solidFill>
                          <a:latin typeface="SF Pro Display"/>
                        </a:rPr>
                        <a:t/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100" b="1">
                          <a:solidFill>
                            <a:srgbClr val="081226"/>
                          </a:solidFill>
                          <a:latin typeface="SF Pro Display"/>
                        </a:rPr>
                        <a:t>$548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30936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4A64A"/>
                </a:solidFill>
              </a:rPr>
              <a:t>Fixed:  </a:t>
            </a:r>
            <a:r>
              <a:rPr sz="1100">
                <a:solidFill>
                  <a:srgbClr val="B8C2D8"/>
                </a:solidFill>
              </a:rPr>
              <a:t>we pay this whether or not anyone runs a session. </a:t>
            </a:r>
            <a:r>
              <a:rPr sz="1100" b="1">
                <a:solidFill>
                  <a:srgbClr val="D4A64A"/>
                </a:solidFill>
              </a:rPr>
              <a:t>Variable:  </a:t>
            </a:r>
            <a:r>
              <a:rPr sz="1100">
                <a:solidFill>
                  <a:srgbClr val="B8C2D8"/>
                </a:solidFill>
              </a:rPr>
              <a:t>scales with usage — more visits, more storage, more OCR pages.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PER SESSION · PER 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AI Model Token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087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B8C2D8"/>
                </a:solidFill>
              </a:rPr>
              <a:t>Per-session breakdown — 5-min visit, ~750 spoken words, ~10 video frames captioned. Stage 1 = note generation. Stage 2 = vision enrichment.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11680"/>
          <a:ext cx="109087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645920"/>
                <a:gridCol w="1783080"/>
                <a:gridCol w="1463040"/>
                <a:gridCol w="1554480"/>
                <a:gridCol w="1810512"/>
              </a:tblGrid>
              <a:tr h="54864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Provider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Input price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Output price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Stage 1 / session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Stage 2 / session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Total / session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  <a:tr h="54864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GPT-4o (OpenAI)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$3.40 / 1M tok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$13.60 / 1M tok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$0.03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$0.07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$0.10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4864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Claude Sonnet 4.6 (Anthropic)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$4.10 / 1M tok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$20.40 / 1M tok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$0.04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$0.09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$0.13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4864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Gemini 2.5 Pro (Google)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$1.70 / 1M tok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$13.60 / 1M tok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$0.02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$0.05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$0.07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4864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BLENDED AVERAGE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—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—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—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—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$0.10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120640"/>
            <a:ext cx="109087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4A64A"/>
                </a:solidFill>
              </a:rPr>
              <a:t>Why three providers?  </a:t>
            </a:r>
            <a:r>
              <a:rPr sz="1200">
                <a:solidFill>
                  <a:srgbClr val="B8C2D8"/>
                </a:solidFill>
              </a:rPr>
              <a:t>The system can switch between providers live without a redeploy. We use this both for failover (if OpenAI is down, we fall back to Claude/Gemini) and to cost-optimize — sending Stage 1 to the cheaper provider and reserving the premium model for Stage 2 vision when conflicts matter.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MONTHLY AI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AI Costs at Each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331720"/>
                <a:gridCol w="2194560"/>
                <a:gridCol w="2176272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Scenario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Sessions / mo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Cheapest (Gemini)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Blended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Premium (Claude)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Pilot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200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$14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$20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$26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Hospital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5,500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$385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$550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$715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Production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55,000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$3,850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$5,500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SF Pro Display"/>
                        </a:rPr>
                        <a:t>$7,150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83280"/>
            <a:ext cx="109087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A64A"/>
                </a:solidFill>
              </a:rPr>
              <a:t>Per-session economics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</a:rPr>
              <a:t>Even at production volume, AI spend stays under $0.13 per visit. That's the marginal cost of generating one signed clinical note from a 5-minute recording — substantially less than the value of the time it saves the physician.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D4A64A"/>
                </a:solidFill>
              </a:rPr>
              <a:t>Cost-saving levers we already have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8C2D8"/>
                </a:solidFill>
              </a:rPr>
              <a:t>•  Provider-tier routing: route Stage 1 to Gemini, premium to Claude.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8C2D8"/>
                </a:solidFill>
              </a:rPr>
              <a:t>•  Caching of system prompt + template (10–30% input-token reduction).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8C2D8"/>
                </a:solidFill>
              </a:rPr>
              <a:t>•  Self-hosting Whisper means transcription cost is fixed, not variable.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8C2D8"/>
                </a:solidFill>
              </a:rPr>
              <a:t>•  Volume discounts and committed-spend agreements available above $5K/mo.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MONTHLY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Third-Party &amp; Support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6035040"/>
                <a:gridCol w="1399032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Item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What For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$/mo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Apple Developer Program (annualized)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App Store distribution.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$12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Claude Code Team — Enterprise (3 seats)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Engineering productivity. 3 seats × ~$80/seat enterprise tier.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$240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Sentry — error monitoring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Production error tracking, team plan.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$36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Slack — team comms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Free tier sufficient for pilot.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GitHub Actions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CI/CD pipeline, 2 K free mins/mo usually enough.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Email (AWS SES)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Patient consent records, system notifications.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$5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Domain + DNS (Route 53)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aurionclinical.com hosted zone.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$1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Backup compliance retainer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Privacy counsel on retainer (~2 hrs / mo).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$500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SUBTOTAL — THIRD PARTY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Mostly flat across scenarios. Claude Code seats grow with team size.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$794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REQUIRED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Compliance &amp; Security — Annual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5029200"/>
                <a:gridCol w="1371600"/>
                <a:gridCol w="1033271"/>
              </a:tblGrid>
              <a:tr h="574765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Item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What For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Frequency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Cost (CAD)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  <a:tr h="574765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SOC 2 Type II audit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Required by enterprise hospital partners.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Annual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$25,000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74765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HIPAA / Law 25 compliance review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External counsel, privacy officer engagement.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Annual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$8,000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74765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Penetration testing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Third-party red-team assessment.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Annual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$6,000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74765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Cyber liability insurance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Recommended for healthcare SaaS at scale.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Annual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$5,000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74765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Privacy officer (part-time)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Designated under Quebec Law 25 — fractional role at pilot.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Annual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$15,000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7477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TOTAL ANNUAL COMPLIANCE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Most items skip in year-1 pilot.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/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$59,000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4A64A"/>
                </a:solidFill>
              </a:rPr>
              <a:t>Pilot year:  </a:t>
            </a:r>
            <a:r>
              <a:rPr sz="1200">
                <a:solidFill>
                  <a:srgbClr val="B8C2D8"/>
                </a:solidFill>
              </a:rPr>
              <a:t>only the HIPAA/Law 25 review + pen test + insurance ≈ $19,000. SOC 2 and the dedicated privacy officer become needed once we expand beyond CREOQ/CLLC.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THREE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Monthly Run Rate — All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221992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400" b="1">
                          <a:solidFill>
                            <a:srgbClr val="081226"/>
                          </a:solidFill>
                          <a:latin typeface="SF Pro Display"/>
                        </a:rPr>
                        <a:t>Cost Bucket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400" b="1">
                          <a:solidFill>
                            <a:srgbClr val="081226"/>
                          </a:solidFill>
                          <a:latin typeface="SF Pro Display"/>
                        </a:rPr>
                        <a:t>Pilot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400" b="1">
                          <a:solidFill>
                            <a:srgbClr val="081226"/>
                          </a:solidFill>
                          <a:latin typeface="SF Pro Display"/>
                        </a:rPr>
                        <a:t>Hospital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400" b="1">
                          <a:solidFill>
                            <a:srgbClr val="081226"/>
                          </a:solidFill>
                          <a:latin typeface="SF Pro Display"/>
                        </a:rPr>
                        <a:t>Production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AWS infrastructure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$548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$1,950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$11,400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AI model APIs (blended)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$20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$550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$5,500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Third-party services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$794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$1,300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$2,000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Compliance (amortized)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$1,600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$3,200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0">
                          <a:solidFill>
                            <a:srgbClr val="FFFFFF"/>
                          </a:solidFill>
                          <a:latin typeface="SF Pro Display"/>
                        </a:rPr>
                        <a:t>$4,900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r>
                        <a:rPr sz="1400" b="1">
                          <a:solidFill>
                            <a:srgbClr val="081226"/>
                          </a:solidFill>
                          <a:latin typeface="SF Pro Display"/>
                        </a:rPr>
                        <a:t>TOTAL / MONTH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1">
                          <a:solidFill>
                            <a:srgbClr val="081226"/>
                          </a:solidFill>
                          <a:latin typeface="SF Pro Display"/>
                        </a:rPr>
                        <a:t>$2,962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1">
                          <a:solidFill>
                            <a:srgbClr val="081226"/>
                          </a:solidFill>
                          <a:latin typeface="SF Pro Display"/>
                        </a:rPr>
                        <a:t>$7,000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400" b="1">
                          <a:solidFill>
                            <a:srgbClr val="081226"/>
                          </a:solidFill>
                          <a:latin typeface="SF Pro Display"/>
                        </a:rPr>
                        <a:t>$23,800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89120"/>
            <a:ext cx="1090879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A64A"/>
                </a:solidFill>
              </a:rPr>
              <a:t>Cost per signed clinical note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D4A64A"/>
                </a:solidFill>
              </a:rPr>
              <a:t>●  Pilot  </a:t>
            </a:r>
            <a:r>
              <a:rPr sz="1300">
                <a:solidFill>
                  <a:srgbClr val="B8C2D8"/>
                </a:solidFill>
              </a:rPr>
              <a:t>(200 sessions / mo)  →  </a:t>
            </a:r>
            <a:r>
              <a:rPr sz="1400" b="1">
                <a:solidFill>
                  <a:srgbClr val="FFFFFF"/>
                </a:solidFill>
              </a:rPr>
              <a:t>$14.81 / note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D4A64A"/>
                </a:solidFill>
              </a:rPr>
              <a:t>●  Hospital  </a:t>
            </a:r>
            <a:r>
              <a:rPr sz="1300">
                <a:solidFill>
                  <a:srgbClr val="B8C2D8"/>
                </a:solidFill>
              </a:rPr>
              <a:t>(5,500 sessions / mo)  →  </a:t>
            </a:r>
            <a:r>
              <a:rPr sz="1400" b="1">
                <a:solidFill>
                  <a:srgbClr val="FFFFFF"/>
                </a:solidFill>
              </a:rPr>
              <a:t>$1.27 / note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D4A64A"/>
                </a:solidFill>
              </a:rPr>
              <a:t>●  Production  </a:t>
            </a:r>
            <a:r>
              <a:rPr sz="1300">
                <a:solidFill>
                  <a:srgbClr val="B8C2D8"/>
                </a:solidFill>
              </a:rPr>
              <a:t>(55,000 sessions / mo)  →  </a:t>
            </a:r>
            <a:r>
              <a:rPr sz="1400" b="1">
                <a:solidFill>
                  <a:srgbClr val="FFFFFF"/>
                </a:solidFill>
              </a:rPr>
              <a:t>$0.43 / note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WHAT WE'RE COMMITTING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3-Year Cost Projection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114800"/>
                <a:gridCol w="1828800"/>
                <a:gridCol w="1828800"/>
                <a:gridCol w="1673352"/>
              </a:tblGrid>
              <a:tr h="54864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Year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Stage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Monthly avg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Annual run rate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+ One-time costs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  <a:tr h="54864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Year 1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Pilot → late-year hospital ramp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$3,800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$45,600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$20,660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4864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Year 2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Hospital scale (single site)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$7,000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$84,000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4864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Year 3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Multi-site production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$23,800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$285,600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$0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54864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3-YEAR TOTAL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Through full production launch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/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$415,200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r"/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$20,660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297680"/>
            <a:ext cx="1090879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A64A"/>
                </a:solidFill>
              </a:rPr>
              <a:t>Context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●  AWS startup credits  </a:t>
            </a:r>
            <a:r>
              <a:rPr sz="1200">
                <a:solidFill>
                  <a:srgbClr val="B8C2D8"/>
                </a:solidFill>
              </a:rPr>
              <a:t>Up to $100,000 over 2 years via AWS Activate — typically wipes out year-1 infrastructure cost.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●  Reserved instances  </a:t>
            </a:r>
            <a:r>
              <a:rPr sz="1200">
                <a:solidFill>
                  <a:srgbClr val="B8C2D8"/>
                </a:solidFill>
              </a:rPr>
              <a:t>1-year commit drops Fargate + RDS ~35%, 3-year ~55%. Applies starting year 2.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●  Provider negotiated rates  </a:t>
            </a:r>
            <a:r>
              <a:rPr sz="1200">
                <a:solidFill>
                  <a:srgbClr val="B8C2D8"/>
                </a:solidFill>
              </a:rPr>
              <a:t>OpenAI/Anthropic/Google offer enterprise discounts above $5K/mo committed spend.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●  Revenue side  </a:t>
            </a:r>
            <a:r>
              <a:rPr sz="1200">
                <a:solidFill>
                  <a:srgbClr val="B8C2D8"/>
                </a:solidFill>
              </a:rPr>
              <a:t>At hospital scale (5,500 visits/mo), even a $5/visit recovery rate yields $27,500/mo revenue against $6,280/mo 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AVAILABLE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Cost Optimization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474720"/>
                <a:gridCol w="2194560"/>
                <a:gridCol w="2770632"/>
              </a:tblGrid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Lever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Where It Helps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Est. Saving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1">
                          <a:solidFill>
                            <a:srgbClr val="081226"/>
                          </a:solidFill>
                          <a:latin typeface="SF Pro Display"/>
                        </a:rPr>
                        <a:t>When to Pull</a:t>
                      </a:r>
                    </a:p>
                  </a:txBody>
                  <a:tcPr>
                    <a:solidFill>
                      <a:srgbClr val="D4A64A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AWS Activate credits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All infrastructure costs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Up to $100K total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Apply now — pilot stage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Reserved instances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Fargate, RDS, GPU compute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35–55% of compute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Year 2 onward, predictable load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Spot for non-prod GPU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Whisper dev/staging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60–70%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Immediately, low risk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Provider tier routing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AI model API spend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30–40% of LLM cost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Production scale — auto-select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Prompt caching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OpenAI / Anthropic input tokens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10–30% of input tokens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Already supported — turn on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Self-hosted Whisper scaling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Transcription cost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Fixed cost, not per-minute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Always — already in place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  <a:tr h="617220"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S3 Intelligent-Tiering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Long-tail frame storage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30–50% on warm data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SF Pro Display"/>
                        </a:rPr>
                        <a:t>Year 2 — when retention grows</a:t>
                      </a:r>
                    </a:p>
                  </a:txBody>
                  <a:tcPr>
                    <a:solidFill>
                      <a:srgbClr val="16284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WHAT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Headline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697480" cy="3474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0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D4A64A"/>
                </a:solidFill>
              </a:rPr>
              <a:t>$20,660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to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C2D8"/>
                </a:solidFill>
              </a:rPr>
              <a:t>One-time setup before first patient visit.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371600"/>
            <a:ext cx="2697480" cy="3474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1828800"/>
            <a:ext cx="2240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D4A64A"/>
                </a:solidFill>
              </a:rPr>
              <a:t>$2,962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3063240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monthly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56616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C2D8"/>
                </a:solidFill>
              </a:rPr>
              <a:t>All-in run rate for 3–5 clinicians at CREOQ/CLLC.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1371600"/>
            <a:ext cx="2697480" cy="3474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1828800"/>
            <a:ext cx="2240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D4A64A"/>
                </a:solidFill>
              </a:rPr>
              <a:t>$0.10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3063240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per signed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356616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C2D8"/>
                </a:solidFill>
              </a:rPr>
              <a:t>Marginal AI cost at any production scale.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26296" y="1371600"/>
            <a:ext cx="2697480" cy="3474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1828800"/>
            <a:ext cx="2240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D4A64A"/>
                </a:solidFill>
              </a:rPr>
              <a:t>$415K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3063240"/>
            <a:ext cx="2240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3-year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4896" y="356616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C2D8"/>
                </a:solidFill>
              </a:rPr>
              <a:t>Through multi-site production — before credits.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10908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FFFFFF"/>
                </a:solidFill>
              </a:rPr>
              <a:t>AI is not the expensive part. The cost is dominated by AWS infrastructure and compliance — both of which become cheaper per visit as we scale.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52160" y="2560320"/>
            <a:ext cx="457200" cy="45720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Questions on the numbers?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B8C2D8"/>
                </a:solidFill>
              </a:rPr>
              <a:t>AURION CLINICAL AI  ·  COST ANALYSIS  ·  MAY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