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286000" y="-1371600"/>
            <a:ext cx="9144000" cy="9144000"/>
          </a:xfrm>
          <a:prstGeom prst="ellipse">
            <a:avLst/>
          </a:prstGeom>
          <a:solidFill>
            <a:srgbClr val="16284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4A64A"/>
                </a:solidFill>
              </a:rPr>
              <a:t>AURION CLINICAL AI · TEAM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F Pro Display"/>
              </a:rPr>
              <a:t>Where We Are on the Road to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8C2D8"/>
                </a:solidFill>
              </a:rPr>
              <a:t>Plan · Done · Remaining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A64A"/>
                </a:solidFill>
              </a:rPr>
              <a:t>Faïçal Sawadogo · Co-Founder &amp; CTO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66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What We Are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087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SF Pro Display"/>
              </a:rPr>
              <a:t>A doctor puts on smart glasses, presses one button, and sees their patient as normal. Aurion listens, watches, and reads the screens in the room — then writes a clean clinical note for them.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B8C2D8"/>
                </a:solidFill>
                <a:latin typeface="SF Pro Display"/>
              </a:rPr>
              <a:t>Between patients, the doctor reviews the draft, fixes anything that needs fixing, signs it, and sends it to their records system. The raw recording is deleted right after.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86400"/>
            <a:ext cx="10908792" cy="1005840"/>
          </a:xfrm>
          <a:prstGeom prst="roundRect">
            <a:avLst>
              <a:gd name="adj" fmla="val 18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Ins="274320" rtlCol="0" anchor="ctr"/>
          <a:lstStyle/>
          <a:p>
            <a:pPr algn="ctr"/>
            <a:r>
              <a:rPr sz="1400" b="1">
                <a:solidFill>
                  <a:srgbClr val="D4A64A"/>
                </a:solidFill>
              </a:rPr>
              <a:t>Our promise to clinicians:  </a:t>
            </a:r>
            <a:r>
              <a:rPr sz="1300">
                <a:solidFill>
                  <a:srgbClr val="FFFFFF"/>
                </a:solidFill>
              </a:rPr>
              <a:t>Aurion writes down what happened. It does not give medical opinions, make diagnoses, or suggest treatments. The doctor stays in charge of every clinical decision.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E5A04-D522-E5D8-373B-A364C0D9F138}"/>
              </a:ext>
            </a:extLst>
          </p:cNvPr>
          <p:cNvSpPr txBox="1"/>
          <p:nvPr/>
        </p:nvSpPr>
        <p:spPr>
          <a:xfrm>
            <a:off x="-297712" y="106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33" y="292608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THE ENCOUNTER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How It Works — Doctor's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1226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8074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Get patient 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0992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Doctor confirms consent on the phone — the record button stays off until they do.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122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5798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Press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8716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One tap turns on listening, watching, and the screen reader at the same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1226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3522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See the 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6440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Doctor talks and examines normally. Aurion stays in the background — no prompts, no buzzes.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1226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1246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Press 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4164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A first draft of the note appears on the phone in under 30 seconds.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1226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8970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Review between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81888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Doctor reads the draft, fixes anything, signs with a two-tap confirm.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81226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26694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</a:rPr>
              <a:t>Note arrives in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596128"/>
            <a:ext cx="10515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8C2D8"/>
                </a:solidFill>
              </a:rPr>
              <a:t>Aurion sends the Word file to the doctor. Raw audio and video are deleted.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THE MVP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What's in the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B8C2D8"/>
                </a:solidFill>
              </a:rPr>
              <a:t>Four areas we committed to building for the 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577007" cy="402336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1198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  <a:latin typeface="SF Pro Display"/>
              </a:rPr>
              <a:t>LISTEN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11980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Records the conversation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Captures key moments on video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Reads info from screens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Hides faces &amp; personal info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Knows the doctor's voice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Deletes raw files after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8255" y="1828800"/>
            <a:ext cx="2577007" cy="402336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46855" y="2011680"/>
            <a:ext cx="21198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  <a:latin typeface="SF Pro Display"/>
              </a:rPr>
              <a:t>WRITE THE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6855" y="2514600"/>
            <a:ext cx="211980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Quick draft in seconds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Refined draft within minutes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Note matches the specialty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Every line cites its source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Flags conflicts to review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Keeps a full edit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0" y="1828800"/>
            <a:ext cx="2577007" cy="402336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5030" y="2011680"/>
            <a:ext cx="21198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  <a:latin typeface="SF Pro Display"/>
              </a:rPr>
              <a:t>DOCTOR'S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0" y="2514600"/>
            <a:ext cx="211980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Patient consent comes first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Pause &amp; resume anytime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Side-by-side conflict view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Easy review &amp; sign-off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Export to Word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Works on iPhone and iPad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4605" y="1828800"/>
            <a:ext cx="2577007" cy="402336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3205" y="2011680"/>
            <a:ext cx="21198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  <a:latin typeface="SF Pro Display"/>
              </a:rPr>
              <a:t>BEHIND THE SCENES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3205" y="2514600"/>
            <a:ext cx="211980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Swap AI models without redeploying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Tamper-proof activity log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Anonymous usage measurements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SF Pro Display"/>
              </a:rPr>
              <a:t>Admin dashboard for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Where We Are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93592" cy="3474720"/>
          </a:xfrm>
          <a:prstGeom prst="roundRect">
            <a:avLst>
              <a:gd name="adj" fmla="val 8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F Pro Display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136392" cy="10972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SF Pro Display"/>
              </a:rPr>
              <a:t>Most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136392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>
                <a:solidFill>
                  <a:srgbClr val="081226"/>
                </a:solidFill>
                <a:latin typeface="SF Pro Display"/>
              </a:rPr>
              <a:t>The doctor can complete an end-to-end visit on the phone today — consent, record, draft, refine, sign, and export. The admin dashboard is live too.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593592" cy="3474720"/>
          </a:xfrm>
          <a:prstGeom prst="roundRect">
            <a:avLst>
              <a:gd name="adj" fmla="val 8000"/>
            </a:avLst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09160" y="16002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F Pro Display"/>
              </a:rPr>
              <a:t>POLISHING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57400"/>
            <a:ext cx="3136392" cy="10972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SF Pro Display"/>
              </a:rPr>
              <a:t>A few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00400"/>
            <a:ext cx="3136392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>
                <a:solidFill>
                  <a:srgbClr val="081226"/>
                </a:solidFill>
                <a:latin typeface="SF Pro Display"/>
              </a:rPr>
              <a:t>Voice ID, the privacy filter, the iPad-specific layout, and final cleanup of saved files need finishing touches before the first pilot visit.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593592" cy="3474720"/>
          </a:xfrm>
          <a:prstGeom prst="roundRect">
            <a:avLst>
              <a:gd name="adj" fmla="val 8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49640" y="160020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F Pro Display"/>
              </a:rPr>
              <a:t>TO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057400"/>
            <a:ext cx="3136392" cy="10972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SF Pro Display"/>
              </a:rPr>
              <a:t>Soon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00400"/>
            <a:ext cx="3136392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>
                <a:solidFill>
                  <a:srgbClr val="081226"/>
                </a:solidFill>
                <a:latin typeface="SF Pro Display"/>
              </a:rPr>
              <a:t>The cloud setup is fully prepared. Final step is signing the healthcare data agreements, then flipping the switch to live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10908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F Pro Display"/>
              </a:rPr>
              <a:t>Today a doctor can sit down with a patient, finish the visit, and walk out with a signed clinical note.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WHAT'S DONE · 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Listening, Watching, Privacy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11430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E7D32"/>
                </a:solidFill>
              </a:rPr>
              <a:t>✓ 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0879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Records what's said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Everything spoken during the visit is turned into text, with timestamps so we know when each thing happened.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Captures key moments on video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Aurion knows when the doctor is doing a physical exam, reviewing an X-ray, or looking at a wound, and saves a short visual record of those moments.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Reads what's on screens in the room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Lab results and imaging metadata get pulled in automatically — the doctor doesn't have to type them.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Spots disagreements between what was said and what was seen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If the audio says one thing and the video shows another, both are surfaced and the doctor decides.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Privacy filter on every video frame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Faces and any personal info on screens are hidden before anything leaves the 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WHAT'S DONE · 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The Note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11430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E7D32"/>
                </a:solidFill>
              </a:rPr>
              <a:t>✓ 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0879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First draft in seconds, refined within minutes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Doctor sees a quick draft within 30 seconds of pressing stop. A polished version follows automatically.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Note matches the specialty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Five built-in styles: orthopedic, plastic, musculoskeletal, emergency, general. The right sections appear automatically.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Every line cites where it came from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Tap a line in the note to see the exact spot in the conversation or the exact image it came from. No fabrications.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Easy review screen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Sections, completeness ring, conflicts highlighted in amber, two-tap signing — designed to take seconds between patients.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Full edit history kept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Every change is saved. We can always show what the original draft said vs the final signed note.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WHAT'S DONE · 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Trust &amp;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11430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E7D32"/>
                </a:solidFill>
              </a:rPr>
              <a:t>✓ 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0879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Patient consent is required to record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The record button stays off until the doctor confirms consent. No exceptions, no overrides.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Pause and resume any time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Doctor can stop mid-visit if needed, then pick up exactly where they left off.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Word document export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The signed note is exported as a Word file the doctor can drop into their existing records system.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Tamper-proof activity log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Every consent, recording, edit, and export is logged. Kept for seven years. Nobody can change history.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D4A64A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Admin dashboard for compliance team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Compliance officers have their own portal to verify privacy, review activity, and check that everything ran correctly.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WHAT REMAINS · 1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To Finish Before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84080" y="11430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7F17"/>
                </a:solidFill>
              </a:rPr>
              <a:t>⏳  REMAINING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0879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Voice ID — knowing who's the doctor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The doctor records a few sentences once, so Aurion can tell their voice apart from the patient's. The recording flow is built; the link to the note pipeline still needs to be wired.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Privacy filter — final check before upload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The filter works. The final step is making sure no video leaves the phone without the filter having confirmed its work.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Automatic cleanup of saved files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Old recordings get deleted on a schedule. Built and tested; we turn this on when we go live.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iPad-specific layout for note review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The app works on iPad, but we want a more spacious side-by-side layout designed for the bigger screen.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Production cloud deployment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The cloud setup is fully prepared. Final step is healthcare data agreements (next slide), then we go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WHAT REMAINS · 2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What We Chose Not to Build (For Now)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84080" y="11430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7F17"/>
                </a:solidFill>
              </a:rPr>
              <a:t>⏳  REMAINING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08792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Operating-room mode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Different capture style (timed checkpoints, sterile environment). Planned for next version after pilot.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Direct connection to hospital records systems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For pilot, doctors copy-paste from a Word file. Direct integration comes when we sign our first hospital.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French language support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Speech recognition works in French, but the specialty templates need to be validated by French-speaking doctors first.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Android version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iPhone and iPad only for pilot. Android is a separate project after the iOS version proves itself.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57F17"/>
                </a:solidFill>
              </a:rPr>
              <a:t>●  </a:t>
            </a:r>
            <a:r>
              <a:rPr sz="1600" b="1">
                <a:solidFill>
                  <a:srgbClr val="FFFFFF"/>
                </a:solidFill>
                <a:latin typeface="SF Pro Display"/>
              </a:rPr>
              <a:t>Anything that gives a medical opinion</a:t>
            </a:r>
          </a:p>
          <a:p>
            <a:pPr>
              <a:spcAft>
                <a:spcPts val="1000"/>
              </a:spcAft>
            </a:pPr>
            <a:r>
              <a:rPr sz="1200"/>
              <a:t>    </a:t>
            </a:r>
            <a:r>
              <a:rPr sz="1200">
                <a:solidFill>
                  <a:srgbClr val="B8C2D8"/>
                </a:solidFill>
                <a:latin typeface="SF Pro Display"/>
              </a:rPr>
              <a:t>Aurion will never diagnose, suggest treatments, or interpret findings. That is a permanent line, not a future feature.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DECISIONS TO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What's Waiting on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08792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D4A64A"/>
                </a:solidFill>
              </a:rPr>
              <a:t>●  </a:t>
            </a:r>
            <a:r>
              <a:rPr sz="1800" b="1">
                <a:solidFill>
                  <a:srgbClr val="FFFFFF"/>
                </a:solidFill>
                <a:latin typeface="SF Pro Display"/>
              </a:rPr>
              <a:t>Healthcare data agreement with our AI partner</a:t>
            </a:r>
          </a:p>
          <a:p>
            <a:pPr>
              <a:spcAft>
                <a:spcPts val="1000"/>
              </a:spcAft>
            </a:pPr>
            <a:r>
              <a:rPr sz="1400"/>
              <a:t>    </a:t>
            </a:r>
            <a:r>
              <a:rPr sz="1400">
                <a:solidFill>
                  <a:srgbClr val="B8C2D8"/>
                </a:solidFill>
                <a:latin typeface="SF Pro Display"/>
              </a:rPr>
              <a:t>Standard paperwork that lets us use the AI provider for protected health data. Required before any live patient visit.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D4A64A"/>
                </a:solidFill>
              </a:rPr>
              <a:t>●  </a:t>
            </a:r>
            <a:r>
              <a:rPr sz="1800" b="1">
                <a:solidFill>
                  <a:srgbClr val="FFFFFF"/>
                </a:solidFill>
                <a:latin typeface="SF Pro Display"/>
              </a:rPr>
              <a:t>How long we keep saved video frames</a:t>
            </a:r>
          </a:p>
          <a:p>
            <a:pPr>
              <a:spcAft>
                <a:spcPts val="1000"/>
              </a:spcAft>
            </a:pPr>
            <a:r>
              <a:rPr sz="1400"/>
              <a:t>    </a:t>
            </a:r>
            <a:r>
              <a:rPr sz="1400">
                <a:solidFill>
                  <a:srgbClr val="B8C2D8"/>
                </a:solidFill>
                <a:latin typeface="SF Pro Display"/>
              </a:rPr>
              <a:t>Compliance team needs to confirm the retention window and how often we delete. This becomes part of our privacy promise.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D4A64A"/>
                </a:solidFill>
              </a:rPr>
              <a:t>●  </a:t>
            </a:r>
            <a:r>
              <a:rPr sz="1800" b="1">
                <a:solidFill>
                  <a:srgbClr val="FFFFFF"/>
                </a:solidFill>
                <a:latin typeface="SF Pro Display"/>
              </a:rPr>
              <a:t>Smart glasses licensing for clinical use</a:t>
            </a:r>
          </a:p>
          <a:p>
            <a:pPr>
              <a:spcAft>
                <a:spcPts val="1000"/>
              </a:spcAft>
            </a:pPr>
            <a:r>
              <a:rPr sz="1400"/>
              <a:t>    </a:t>
            </a:r>
            <a:r>
              <a:rPr sz="1400">
                <a:solidFill>
                  <a:srgbClr val="B8C2D8"/>
                </a:solidFill>
                <a:latin typeface="SF Pro Display"/>
              </a:rPr>
              <a:t>Confirm the glasses manufacturer's terms allow use in a healthcare setting. Required before we start using the glasses in real visits.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CLINICAL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From Here to First Patient Visit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08792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Finish the polishing list</a:t>
            </a:r>
          </a:p>
          <a:p>
            <a:pPr>
              <a:spcAft>
                <a:spcPts val="1000"/>
              </a:spcAft>
            </a:pPr>
            <a:r>
              <a:rPr sz="1300"/>
              <a:t>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Voice ID wiring, privacy filter final pass, automatic cleanup, and the iPad layout.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Go live in the cloud</a:t>
            </a:r>
          </a:p>
          <a:p>
            <a:pPr>
              <a:spcAft>
                <a:spcPts val="1000"/>
              </a:spcAft>
            </a:pPr>
            <a:r>
              <a:rPr sz="1300"/>
              <a:t>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Once the data agreements are signed, we flip the cloud setup on. Live within a day.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Close the three open decisions</a:t>
            </a:r>
          </a:p>
          <a:p>
            <a:pPr>
              <a:spcAft>
                <a:spcPts val="1000"/>
              </a:spcAft>
            </a:pPr>
            <a:r>
              <a:rPr sz="1300"/>
              <a:t>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Data agreement · retention policy · glasses licensing.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Dry run with Dr. Perry &amp; Dr. Marie</a:t>
            </a:r>
          </a:p>
          <a:p>
            <a:pPr>
              <a:spcAft>
                <a:spcPts val="1000"/>
              </a:spcAft>
            </a:pPr>
            <a:r>
              <a:rPr sz="1300"/>
              <a:t>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End-to-end practice visit on real devices. Confirm the experience feels good before live patients.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Record the marketing video</a:t>
            </a:r>
          </a:p>
          <a:p>
            <a:pPr>
              <a:spcAft>
                <a:spcPts val="1000"/>
              </a:spcAft>
            </a:pPr>
            <a:r>
              <a:rPr sz="1300"/>
              <a:t>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The clean demo account is ready. We capture, edit, and ship the video this week.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852160" y="2560320"/>
            <a:ext cx="457200" cy="45720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From documentation to clinical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D4A64A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B8C2D8"/>
                </a:solidFill>
              </a:rPr>
              <a:t>AURION CLINICAL AI  ·  TEAM UPDATE  ·  MAY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1559</Words>
  <Application>Microsoft Macintosh PowerPoint</Application>
  <PresentationFormat>Widescreen</PresentationFormat>
  <Paragraphs>169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SF Pro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Faïçal Sawadogo</cp:lastModifiedBy>
  <cp:revision>2</cp:revision>
  <dcterms:created xsi:type="dcterms:W3CDTF">2013-01-27T09:14:16Z</dcterms:created>
  <dcterms:modified xsi:type="dcterms:W3CDTF">2026-05-11T19:42:24Z</dcterms:modified>
  <cp:category/>
</cp:coreProperties>
</file>