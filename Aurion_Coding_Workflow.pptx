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188720"/>
            <a:ext cx="12191695" cy="914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AURION CLINICAL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103120"/>
            <a:ext cx="12191695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0" i="0">
                <a:solidFill>
                  <a:srgbClr val="C9A84C"/>
                </a:solidFill>
                <a:latin typeface="Arial"/>
              </a:rPr>
              <a:t>The Gold Standard in Clinical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383280"/>
            <a:ext cx="12191695" cy="8229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Arial"/>
              </a:rPr>
              <a:t>Aurion Coding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297680"/>
            <a:ext cx="12191695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000" b="0" i="0">
                <a:solidFill>
                  <a:srgbClr val="2E5FA3"/>
                </a:solidFill>
                <a:latin typeface="Arial"/>
              </a:rPr>
              <a:t>Autonomous Development Loop · Specification v1.0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943600"/>
            <a:ext cx="12191695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0">
                <a:solidFill>
                  <a:srgbClr val="888888"/>
                </a:solidFill>
                <a:latin typeface="Arial"/>
              </a:rPr>
              <a:t>Confidential  · 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D1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What we'll cover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1695" cy="36576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C9A84C"/>
                </a:solidFill>
                <a:latin typeface="Arial"/>
              </a:rPr>
              <a:t>▸  </a:t>
            </a:r>
            <a:r>
              <a:rPr sz="1600">
                <a:solidFill>
                  <a:srgbClr val="1A1A2E"/>
                </a:solidFill>
                <a:latin typeface="Arial"/>
              </a:rPr>
              <a:t>Why this workflow exists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C9A84C"/>
                </a:solidFill>
                <a:latin typeface="Arial"/>
              </a:rPr>
              <a:t>▸  </a:t>
            </a:r>
            <a:r>
              <a:rPr sz="1600">
                <a:solidFill>
                  <a:srgbClr val="1A1A2E"/>
                </a:solidFill>
                <a:latin typeface="Arial"/>
              </a:rPr>
              <a:t>Architecture — driver, monitor, digest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C9A84C"/>
                </a:solidFill>
                <a:latin typeface="Arial"/>
              </a:rPr>
              <a:t>▸  </a:t>
            </a:r>
            <a:r>
              <a:rPr sz="1600">
                <a:solidFill>
                  <a:srgbClr val="1A1A2E"/>
                </a:solidFill>
                <a:latin typeface="Arial"/>
              </a:rPr>
              <a:t>Authority boundaries — six rules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C9A84C"/>
                </a:solidFill>
                <a:latin typeface="Arial"/>
              </a:rPr>
              <a:t>▸  </a:t>
            </a:r>
            <a:r>
              <a:rPr sz="1600">
                <a:solidFill>
                  <a:srgbClr val="1A1A2E"/>
                </a:solidFill>
                <a:latin typeface="Arial"/>
              </a:rPr>
              <a:t>Parallel lanes via worktrees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C9A84C"/>
                </a:solidFill>
                <a:latin typeface="Arial"/>
              </a:rPr>
              <a:t>▸  </a:t>
            </a:r>
            <a:r>
              <a:rPr sz="1600">
                <a:solidFill>
                  <a:srgbClr val="1A1A2E"/>
                </a:solidFill>
                <a:latin typeface="Arial"/>
              </a:rPr>
              <a:t>Memory &amp; state files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C9A84C"/>
                </a:solidFill>
                <a:latin typeface="Arial"/>
              </a:rPr>
              <a:t>▸  </a:t>
            </a:r>
            <a:r>
              <a:rPr sz="1600">
                <a:solidFill>
                  <a:srgbClr val="1A1A2E"/>
                </a:solidFill>
                <a:latin typeface="Arial"/>
              </a:rPr>
              <a:t>Skills &amp; subagents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8016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C9A84C"/>
                </a:solidFill>
                <a:latin typeface="Arial"/>
              </a:rPr>
              <a:t>▸  </a:t>
            </a:r>
            <a:r>
              <a:rPr sz="1600">
                <a:solidFill>
                  <a:srgbClr val="1A1A2E"/>
                </a:solidFill>
                <a:latin typeface="Arial"/>
              </a:rPr>
              <a:t>Acceptance gate + working-app rule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C9A84C"/>
                </a:solidFill>
                <a:latin typeface="Arial"/>
              </a:rPr>
              <a:t>▸  </a:t>
            </a:r>
            <a:r>
              <a:rPr sz="1600">
                <a:solidFill>
                  <a:srgbClr val="1A1A2E"/>
                </a:solidFill>
                <a:latin typeface="Arial"/>
              </a:rPr>
              <a:t>PR template + security checklist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C9A84C"/>
                </a:solidFill>
                <a:latin typeface="Arial"/>
              </a:rPr>
              <a:t>▸  </a:t>
            </a:r>
            <a:r>
              <a:rPr sz="1600">
                <a:solidFill>
                  <a:srgbClr val="1A1A2E"/>
                </a:solidFill>
                <a:latin typeface="Arial"/>
              </a:rPr>
              <a:t>Hooks &amp; permission model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C9A84C"/>
                </a:solidFill>
                <a:latin typeface="Arial"/>
              </a:rPr>
              <a:t>▸  </a:t>
            </a:r>
            <a:r>
              <a:rPr sz="1600">
                <a:solidFill>
                  <a:srgbClr val="1A1A2E"/>
                </a:solidFill>
                <a:latin typeface="Arial"/>
              </a:rPr>
              <a:t>MCP servers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C9A84C"/>
                </a:solidFill>
                <a:latin typeface="Arial"/>
              </a:rPr>
              <a:t>▸  </a:t>
            </a:r>
            <a:r>
              <a:rPr sz="1600">
                <a:solidFill>
                  <a:srgbClr val="1A1A2E"/>
                </a:solidFill>
                <a:latin typeface="Arial"/>
              </a:rPr>
              <a:t>Task lifecycle (one tick)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C9A84C"/>
                </a:solidFill>
                <a:latin typeface="Arial"/>
              </a:rPr>
              <a:t>▸  </a:t>
            </a:r>
            <a:r>
              <a:rPr sz="1600">
                <a:solidFill>
                  <a:srgbClr val="1A1A2E"/>
                </a:solidFill>
                <a:latin typeface="Arial"/>
              </a:rPr>
              <a:t>Setup roadmap &amp; trust gates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Arial"/>
              </a:rPr>
              <a:t>AURION CLINICAL AI  ·  Autonomous Coding Workflow  ·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888888"/>
                </a:solidFill>
                <a:latin typeface="Arial"/>
              </a:rP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D1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2E5FA3"/>
                </a:solidFill>
                <a:latin typeface="Arial"/>
              </a:rPr>
              <a:t>Why the loop, why now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5800"/>
            <a:ext cx="12191695" cy="36576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521208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2E5FA3"/>
                </a:solidFill>
                <a:latin typeface="Arial"/>
              </a:rPr>
              <a:t>Where we 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C9A84C"/>
                </a:solidFill>
                <a:latin typeface="Arial"/>
              </a:rPr>
              <a:t>▸  </a:t>
            </a:r>
            <a:r>
              <a:rPr sz="1400">
                <a:solidFill>
                  <a:srgbClr val="1A1A2E"/>
                </a:solidFill>
                <a:latin typeface="Arial"/>
              </a:rPr>
              <a:t>Backend: 200 tests passing, every MVP endpoint shipped.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C9A84C"/>
                </a:solidFill>
                <a:latin typeface="Arial"/>
              </a:rPr>
              <a:t>▸  </a:t>
            </a:r>
            <a:r>
              <a:rPr sz="1400">
                <a:solidFill>
                  <a:srgbClr val="1A1A2E"/>
                </a:solidFill>
                <a:latin typeface="Arial"/>
              </a:rPr>
              <a:t>iOS: iPhone + iPad builds green, on-device masking + export done.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C9A84C"/>
                </a:solidFill>
                <a:latin typeface="Arial"/>
              </a:rPr>
              <a:t>▸  </a:t>
            </a:r>
            <a:r>
              <a:rPr sz="1400">
                <a:solidFill>
                  <a:srgbClr val="1A1A2E"/>
                </a:solidFill>
                <a:latin typeface="Arial"/>
              </a:rPr>
              <a:t>6 remaining tasks: 4 backend (P0-04..P0-07, B-08), 2 iOS.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C9A84C"/>
                </a:solidFill>
                <a:latin typeface="Arial"/>
              </a:rPr>
              <a:t>▸  </a:t>
            </a:r>
            <a:r>
              <a:rPr sz="1400">
                <a:solidFill>
                  <a:srgbClr val="1A1A2E"/>
                </a:solidFill>
                <a:latin typeface="Arial"/>
              </a:rPr>
              <a:t>Demo: 2026-07-15 at CREOQ/CLLC — 44 working days left.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280160"/>
            <a:ext cx="521208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2E5FA3"/>
                </a:solidFill>
                <a:latin typeface="Arial"/>
              </a:rPr>
              <a:t>What's missing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C9A84C"/>
                </a:solidFill>
                <a:latin typeface="Arial"/>
              </a:rPr>
              <a:t>▸  </a:t>
            </a:r>
            <a:r>
              <a:rPr sz="1400">
                <a:solidFill>
                  <a:srgbClr val="1A1A2E"/>
                </a:solidFill>
                <a:latin typeface="Arial"/>
              </a:rPr>
              <a:t>Manual loop: one engineer drives every task by hand.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C9A84C"/>
                </a:solidFill>
                <a:latin typeface="Arial"/>
              </a:rPr>
              <a:t>▸  </a:t>
            </a:r>
            <a:r>
              <a:rPr sz="1400">
                <a:solidFill>
                  <a:srgbClr val="1A1A2E"/>
                </a:solidFill>
                <a:latin typeface="Arial"/>
              </a:rPr>
              <a:t>Single point of failure: stuck on one task = lost day.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C9A84C"/>
                </a:solidFill>
                <a:latin typeface="Arial"/>
              </a:rPr>
              <a:t>▸  </a:t>
            </a:r>
            <a:r>
              <a:rPr sz="1400">
                <a:solidFill>
                  <a:srgbClr val="1A1A2E"/>
                </a:solidFill>
                <a:latin typeface="Arial"/>
              </a:rPr>
              <a:t>No 24/7 progress unless someone is at the keyboard.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C9A84C"/>
                </a:solidFill>
                <a:latin typeface="Arial"/>
              </a:rPr>
              <a:t>▸  </a:t>
            </a:r>
            <a:r>
              <a:rPr sz="1400">
                <a:solidFill>
                  <a:srgbClr val="1A1A2E"/>
                </a:solidFill>
                <a:latin typeface="Arial"/>
              </a:rPr>
              <a:t>Safety review every PR — slow, easy to skip a step.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943600"/>
            <a:ext cx="12191695" cy="548640"/>
          </a:xfrm>
          <a:prstGeom prst="rect">
            <a:avLst/>
          </a:prstGeom>
          <a:solidFill>
            <a:srgbClr val="0D1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0" y="5943600"/>
            <a:ext cx="12191695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C9A84C"/>
                </a:solidFill>
                <a:latin typeface="Arial"/>
              </a:rPr>
              <a:t>The bet:  An autonomous loop that ships safely turns 9 weeks of remaining work into ~5.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Arial"/>
              </a:rPr>
              <a:t>AURION CLINICAL AI  ·  Autonomous Coding Workflow  · 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888888"/>
                </a:solidFill>
                <a:latin typeface="Arial"/>
              </a:rP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D1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2E5FA3"/>
                </a:solidFill>
                <a:latin typeface="Arial"/>
              </a:rPr>
              <a:t>One driver, one monitor, one digest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5800"/>
            <a:ext cx="12191695" cy="36576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0" y="1280160"/>
            <a:ext cx="7589520" cy="1371600"/>
          </a:xfrm>
          <a:prstGeom prst="rect">
            <a:avLst/>
          </a:prstGeom>
          <a:solidFill>
            <a:srgbClr val="2E5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1280160"/>
            <a:ext cx="758952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DRIVER LOOP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1691640"/>
            <a:ext cx="7589520" cy="914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Arial"/>
              </a:rPr>
              <a:t>picks task → plans with AC → implements → verifies →</a:t>
            </a:r>
          </a:p>
          <a:p>
            <a:pPr algn="ctr"/>
            <a:r>
              <a:rPr sz="1300" b="0" i="0">
                <a:solidFill>
                  <a:srgbClr val="FFFFFF"/>
                </a:solidFill>
                <a:latin typeface="Arial"/>
              </a:rPr>
              <a:t>/simplify → opens PR → polls CI → auto-merges on green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2743200"/>
            <a:ext cx="12191695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1">
                <a:solidFill>
                  <a:srgbClr val="888888"/>
                </a:solidFill>
                <a:latin typeface="Arial"/>
              </a:rPr>
              <a:t>↑ alerts feed back              ↓ implementation work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200400"/>
            <a:ext cx="530352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2E5F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24612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2E5FA3"/>
                </a:solidFill>
                <a:latin typeface="Arial"/>
              </a:rPr>
              <a:t>MONITOR CRON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61188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1">
                <a:solidFill>
                  <a:srgbClr val="888888"/>
                </a:solidFill>
                <a:latin typeface="Arial"/>
              </a:rPr>
              <a:t>every 30 min, 06:00–22:00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023360"/>
            <a:ext cx="5029200" cy="7315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Arial"/>
              </a:rPr>
              <a:t>• CI status of open PRs</a:t>
            </a:r>
          </a:p>
          <a:p>
            <a:pPr algn="l"/>
            <a:r>
              <a:rPr sz="1100" b="0" i="0">
                <a:solidFill>
                  <a:srgbClr val="1A1A2E"/>
                </a:solidFill>
                <a:latin typeface="Arial"/>
              </a:rPr>
              <a:t>• Sentry new issues</a:t>
            </a:r>
          </a:p>
          <a:p>
            <a:pPr algn="l"/>
            <a:r>
              <a:rPr sz="1100" b="0" i="0">
                <a:solidFill>
                  <a:srgbClr val="1A1A2E"/>
                </a:solidFill>
                <a:latin typeface="Arial"/>
              </a:rPr>
              <a:t>• AWS dev CloudWatch alarms</a:t>
            </a:r>
          </a:p>
          <a:p>
            <a:pPr algn="l"/>
            <a:r>
              <a:rPr sz="1100" b="0" i="0">
                <a:solidFill>
                  <a:srgbClr val="1A1A2E"/>
                </a:solidFill>
                <a:latin typeface="Arial"/>
              </a:rPr>
              <a:t>• Appends to .claude/state/alerts.md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3200400"/>
            <a:ext cx="521208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2E5F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3246120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2E5FA3"/>
                </a:solidFill>
                <a:latin typeface="Arial"/>
              </a:rPr>
              <a:t>DAILY DIGEST CRON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611880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1">
                <a:solidFill>
                  <a:srgbClr val="888888"/>
                </a:solidFill>
                <a:latin typeface="Arial"/>
              </a:rPr>
              <a:t>18:00 weekdays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023360"/>
            <a:ext cx="4937760" cy="7315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Arial"/>
              </a:rPr>
              <a:t>• Walks git log + audit log</a:t>
            </a:r>
          </a:p>
          <a:p>
            <a:pPr algn="l"/>
            <a:r>
              <a:rPr sz="1100" b="0" i="0">
                <a:solidFill>
                  <a:srgbClr val="1A1A2E"/>
                </a:solidFill>
                <a:latin typeface="Arial"/>
              </a:rPr>
              <a:t>• Writes digests/YYYY-MM-DD.md</a:t>
            </a:r>
          </a:p>
          <a:p>
            <a:pPr algn="l"/>
            <a:r>
              <a:rPr sz="1100" b="0" i="0">
                <a:solidFill>
                  <a:srgbClr val="1A1A2E"/>
                </a:solidFill>
                <a:latin typeface="Arial"/>
              </a:rPr>
              <a:t>• Posts 200-word summary to Linear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5852160"/>
            <a:ext cx="12191695" cy="640080"/>
          </a:xfrm>
          <a:prstGeom prst="rect">
            <a:avLst/>
          </a:prstGeom>
          <a:solidFill>
            <a:srgbClr val="FBF8F2"/>
          </a:solidFill>
          <a:ln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585216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0" i="1">
                <a:solidFill>
                  <a:srgbClr val="0D1B3E"/>
                </a:solidFill>
                <a:latin typeface="Arial"/>
              </a:rPr>
              <a:t>Driver = WRITES.  Monitor = READS + ALERTS.  Wedged driver doesn't blind your monitoring.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Arial"/>
              </a:rPr>
              <a:t>AURION CLINICAL AI  ·  Autonomous Coding Workflow  ·  Confidential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888888"/>
                </a:solidFill>
                <a:latin typeface="Arial"/>
              </a:rP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D1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Authority boundaries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2E5FA3"/>
                </a:solidFill>
                <a:latin typeface="Arial"/>
              </a:rPr>
              <a:t>Encoded mechanically, not advisory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5800"/>
            <a:ext cx="12191695" cy="36576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011680" cy="502920"/>
          </a:xfrm>
          <a:prstGeom prst="rect">
            <a:avLst/>
          </a:prstGeom>
          <a:solidFill>
            <a:srgbClr val="0D1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Boundary</a:t>
            </a:r>
          </a:p>
        </p:txBody>
      </p:sp>
      <p:sp>
        <p:nvSpPr>
          <p:cNvPr id="8" name="Rectangle 7"/>
          <p:cNvSpPr/>
          <p:nvPr/>
        </p:nvSpPr>
        <p:spPr>
          <a:xfrm>
            <a:off x="2468880" y="1280160"/>
            <a:ext cx="4114800" cy="502920"/>
          </a:xfrm>
          <a:prstGeom prst="rect">
            <a:avLst/>
          </a:prstGeom>
          <a:solidFill>
            <a:srgbClr val="0D1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80" y="1280160"/>
            <a:ext cx="411480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Decision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1280160"/>
            <a:ext cx="5120640" cy="502920"/>
          </a:xfrm>
          <a:prstGeom prst="rect">
            <a:avLst/>
          </a:prstGeom>
          <a:solidFill>
            <a:srgbClr val="0D1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280160"/>
            <a:ext cx="512064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Enforcement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2011680" cy="59436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783080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Arial"/>
              </a:rPr>
              <a:t>PR merging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80" y="1783080"/>
            <a:ext cx="4114800" cy="59436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68880" y="1783080"/>
            <a:ext cx="4114800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Arial"/>
              </a:rPr>
              <a:t>Open + auto-merge on green CI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1783080"/>
            <a:ext cx="5120640" cy="59436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1783080"/>
            <a:ext cx="5120640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Arial"/>
              </a:rPr>
              <a:t>Only after all CI green AND all security boxes ticked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377440"/>
            <a:ext cx="2011680" cy="594360"/>
          </a:xfrm>
          <a:prstGeom prst="rect">
            <a:avLst/>
          </a:prstGeom>
          <a:solidFill>
            <a:srgbClr val="F7F8FA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377440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Arial"/>
              </a:rPr>
              <a:t>AWS / infra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68880" y="2377440"/>
            <a:ext cx="4114800" cy="594360"/>
          </a:xfrm>
          <a:prstGeom prst="rect">
            <a:avLst/>
          </a:prstGeom>
          <a:solidFill>
            <a:srgbClr val="F7F8FA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68880" y="2377440"/>
            <a:ext cx="4114800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Arial"/>
              </a:rPr>
              <a:t>Read-only; Terraform apply dev only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0" y="2377440"/>
            <a:ext cx="5120640" cy="594360"/>
          </a:xfrm>
          <a:prstGeom prst="rect">
            <a:avLst/>
          </a:prstGeom>
          <a:solidFill>
            <a:srgbClr val="F7F8FA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2377440"/>
            <a:ext cx="5120640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Arial"/>
              </a:rPr>
              <a:t>MCP scoped to aurion-dev; prod profile unset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971800"/>
            <a:ext cx="2011680" cy="59436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2971800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Arial"/>
              </a:rPr>
              <a:t>Cadence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68880" y="2971800"/>
            <a:ext cx="4114800" cy="59436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68880" y="2971800"/>
            <a:ext cx="4114800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Arial"/>
              </a:rPr>
              <a:t>Continuous /loop, dynamic pacing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0" y="2971800"/>
            <a:ext cx="5120640" cy="59436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2971800"/>
            <a:ext cx="5120640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Arial"/>
              </a:rPr>
              <a:t>ScheduleWakeup: 20 min idle / 5 min on CI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566160"/>
            <a:ext cx="2011680" cy="594360"/>
          </a:xfrm>
          <a:prstGeom prst="rect">
            <a:avLst/>
          </a:prstGeom>
          <a:solidFill>
            <a:srgbClr val="F7F8FA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566160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Arial"/>
              </a:rPr>
              <a:t>Notifications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468880" y="3566160"/>
            <a:ext cx="4114800" cy="594360"/>
          </a:xfrm>
          <a:prstGeom prst="rect">
            <a:avLst/>
          </a:prstGeom>
          <a:solidFill>
            <a:srgbClr val="F7F8FA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468880" y="3566160"/>
            <a:ext cx="4114800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Arial"/>
              </a:rPr>
              <a:t>PR body + Linear + daily digest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0" y="3566160"/>
            <a:ext cx="5120640" cy="594360"/>
          </a:xfrm>
          <a:prstGeom prst="rect">
            <a:avLst/>
          </a:prstGeom>
          <a:solidFill>
            <a:srgbClr val="F7F8FA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0" y="3566160"/>
            <a:ext cx="5120640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Arial"/>
              </a:rPr>
              <a:t>Loop does NOT post to Slack — no phone pings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160520"/>
            <a:ext cx="2011680" cy="59436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4160520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Arial"/>
              </a:rPr>
              <a:t>Parallelism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468880" y="4160520"/>
            <a:ext cx="4114800" cy="59436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468880" y="4160520"/>
            <a:ext cx="4114800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Arial"/>
              </a:rPr>
              <a:t>Single-lane first, then two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0" y="4160520"/>
            <a:ext cx="5120640" cy="59436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0" y="4160520"/>
            <a:ext cx="5120640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Arial"/>
              </a:rPr>
              <a:t>Earn trust on 2–3 PRs before splitting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4754880"/>
            <a:ext cx="2011680" cy="594360"/>
          </a:xfrm>
          <a:prstGeom prst="rect">
            <a:avLst/>
          </a:prstGeom>
          <a:solidFill>
            <a:srgbClr val="F7F8FA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4754880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Arial"/>
              </a:rPr>
              <a:t>Permissions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468880" y="4754880"/>
            <a:ext cx="4114800" cy="594360"/>
          </a:xfrm>
          <a:prstGeom prst="rect">
            <a:avLst/>
          </a:prstGeom>
          <a:solidFill>
            <a:srgbClr val="F7F8FA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468880" y="4754880"/>
            <a:ext cx="4114800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Arial"/>
              </a:rPr>
              <a:t>Allow + deny + destructive-guard hook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0" y="4754880"/>
            <a:ext cx="5120640" cy="594360"/>
          </a:xfrm>
          <a:prstGeom prst="rect">
            <a:avLst/>
          </a:prstGeom>
          <a:solidFill>
            <a:srgbClr val="F7F8FA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83680" y="4754880"/>
            <a:ext cx="5120640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Arial"/>
              </a:rPr>
              <a:t>default mode; NOT bypassPermissions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Arial"/>
              </a:rPr>
              <a:t>AURION CLINICAL AI  ·  Autonomous Coding Workflow  ·  Confidential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888888"/>
                </a:solidFill>
                <a:latin typeface="Arial"/>
              </a:rP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D1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Parallel lanes via worktrees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2E5FA3"/>
                </a:solidFill>
                <a:latin typeface="Arial"/>
              </a:rPr>
              <a:t>Two non-overlapping lanes; ~5 weeks instead of ~10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5800"/>
            <a:ext cx="12191695" cy="36576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365760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2E5F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2E5FA3"/>
                </a:solidFill>
                <a:latin typeface="Arial"/>
              </a:rPr>
              <a:t>Main checkout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74519"/>
            <a:ext cx="36576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Arial"/>
              </a:rPr>
              <a:t>~/Documents/GitHub/Aurion/</a:t>
            </a:r>
          </a:p>
          <a:p>
            <a:pPr algn="ctr"/>
          </a:p>
          <a:p>
            <a:pPr algn="ctr"/>
            <a:r>
              <a:rPr sz="1100" b="0" i="0">
                <a:solidFill>
                  <a:srgbClr val="1A1A2E"/>
                </a:solidFill>
                <a:latin typeface="Arial"/>
              </a:rPr>
              <a:t>• Always at origin/main</a:t>
            </a:r>
          </a:p>
          <a:p>
            <a:pPr algn="ctr"/>
            <a:r>
              <a:rPr sz="1100" b="0" i="0">
                <a:solidFill>
                  <a:srgbClr val="1A1A2E"/>
                </a:solidFill>
                <a:latin typeface="Arial"/>
              </a:rPr>
              <a:t>• Holds .claude/state/</a:t>
            </a:r>
          </a:p>
          <a:p>
            <a:pPr algn="ctr"/>
            <a:r>
              <a:rPr sz="1100" b="0" i="0">
                <a:solidFill>
                  <a:srgbClr val="1A1A2E"/>
                </a:solidFill>
                <a:latin typeface="Arial"/>
              </a:rPr>
              <a:t>• Read-only for loops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371600"/>
            <a:ext cx="365760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41732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C9A84C"/>
                </a:solidFill>
                <a:latin typeface="Arial"/>
              </a:rPr>
              <a:t>Backend lane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874519"/>
            <a:ext cx="36576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Arial"/>
              </a:rPr>
              <a:t>~/aurion-lanes/backend/</a:t>
            </a:r>
          </a:p>
          <a:p>
            <a:pPr algn="ctr"/>
          </a:p>
          <a:p>
            <a:pPr algn="ctr"/>
            <a:r>
              <a:rPr sz="1100" b="0" i="0">
                <a:solidFill>
                  <a:srgbClr val="1A1A2E"/>
                </a:solidFill>
                <a:latin typeface="Arial"/>
              </a:rPr>
              <a:t>• Branch: lane-backend/{id}</a:t>
            </a:r>
          </a:p>
          <a:p>
            <a:pPr algn="ctr"/>
            <a:r>
              <a:rPr sz="1100" b="0" i="0">
                <a:solidFill>
                  <a:srgbClr val="1A1A2E"/>
                </a:solidFill>
                <a:latin typeface="Arial"/>
              </a:rPr>
              <a:t>• Touches: backend/**, infra/**</a:t>
            </a:r>
          </a:p>
          <a:p>
            <a:pPr algn="ctr"/>
            <a:r>
              <a:rPr sz="1100" b="0" i="0">
                <a:solidFill>
                  <a:srgbClr val="1A1A2E"/>
                </a:solidFill>
                <a:latin typeface="Arial"/>
              </a:rPr>
              <a:t>• Owns docker stack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371600"/>
            <a:ext cx="365760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141732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C9A84C"/>
                </a:solidFill>
                <a:latin typeface="Arial"/>
              </a:rPr>
              <a:t>iOS lane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1874519"/>
            <a:ext cx="36576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Arial"/>
              </a:rPr>
              <a:t>~/aurion-lanes/ios/</a:t>
            </a:r>
          </a:p>
          <a:p>
            <a:pPr algn="ctr"/>
          </a:p>
          <a:p>
            <a:pPr algn="ctr"/>
            <a:r>
              <a:rPr sz="1100" b="0" i="0">
                <a:solidFill>
                  <a:srgbClr val="1A1A2E"/>
                </a:solidFill>
                <a:latin typeface="Arial"/>
              </a:rPr>
              <a:t>• Branch: lane-ios/{id}</a:t>
            </a:r>
          </a:p>
          <a:p>
            <a:pPr algn="ctr"/>
            <a:r>
              <a:rPr sz="1100" b="0" i="0">
                <a:solidFill>
                  <a:srgbClr val="1A1A2E"/>
                </a:solidFill>
                <a:latin typeface="Arial"/>
              </a:rPr>
              <a:t>• Touches: ios/**</a:t>
            </a:r>
          </a:p>
          <a:p>
            <a:pPr algn="ctr"/>
            <a:r>
              <a:rPr sz="1100" b="0" i="0">
                <a:solidFill>
                  <a:srgbClr val="1A1A2E"/>
                </a:solidFill>
                <a:latin typeface="Arial"/>
              </a:rPr>
              <a:t>• Consumes running stack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47472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2E5FA3"/>
                </a:solidFill>
                <a:latin typeface="Arial"/>
              </a:rPr>
              <a:t>Coordination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84048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C9A84C"/>
                </a:solidFill>
                <a:latin typeface="Arial"/>
              </a:rPr>
              <a:t>▸  </a:t>
            </a:r>
            <a:r>
              <a:rPr sz="1300">
                <a:solidFill>
                  <a:srgbClr val="1A1A2E"/>
                </a:solidFill>
                <a:latin typeface="Arial"/>
              </a:rPr>
              <a:t>Lane tag in backlog.md (</a:t>
            </a:r>
            <a:r>
              <a:rPr sz="1200">
                <a:solidFill>
                  <a:srgbClr val="0D1B3E"/>
                </a:solidFill>
                <a:latin typeface="Consolas"/>
              </a:rPr>
              <a:t>lane: backend</a:t>
            </a:r>
            <a:r>
              <a:rPr sz="1300">
                <a:solidFill>
                  <a:srgbClr val="1A1A2E"/>
                </a:solidFill>
                <a:latin typeface="Arial"/>
              </a:rPr>
              <a:t> / </a:t>
            </a:r>
            <a:r>
              <a:rPr sz="1200">
                <a:solidFill>
                  <a:srgbClr val="0D1B3E"/>
                </a:solidFill>
                <a:latin typeface="Consolas"/>
              </a:rPr>
              <a:t>lane: ios</a:t>
            </a:r>
            <a:r>
              <a:rPr sz="1300">
                <a:solidFill>
                  <a:srgbClr val="1A1A2E"/>
                </a:solidFill>
                <a:latin typeface="Arial"/>
              </a:rPr>
              <a:t>) — </a:t>
            </a:r>
            <a:r>
              <a:rPr sz="1200">
                <a:solidFill>
                  <a:srgbClr val="0D1B3E"/>
                </a:solidFill>
                <a:latin typeface="Consolas"/>
              </a:rPr>
              <a:t>/next-task</a:t>
            </a:r>
            <a:r>
              <a:rPr sz="1300">
                <a:solidFill>
                  <a:srgbClr val="1A1A2E"/>
                </a:solidFill>
                <a:latin typeface="Arial"/>
              </a:rPr>
              <a:t> filters.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C9A84C"/>
                </a:solidFill>
                <a:latin typeface="Arial"/>
              </a:rPr>
              <a:t>▸  </a:t>
            </a:r>
            <a:r>
              <a:rPr sz="1300">
                <a:solidFill>
                  <a:srgbClr val="1A1A2E"/>
                </a:solidFill>
                <a:latin typeface="Arial"/>
              </a:rPr>
              <a:t>Shared state: </a:t>
            </a:r>
            <a:r>
              <a:rPr sz="1200">
                <a:solidFill>
                  <a:srgbClr val="0D1B3E"/>
                </a:solidFill>
                <a:latin typeface="Consolas"/>
              </a:rPr>
              <a:t>.claude/state/in-flight.json</a:t>
            </a:r>
            <a:r>
              <a:rPr sz="1300">
                <a:solidFill>
                  <a:srgbClr val="1A1A2E"/>
                </a:solidFill>
                <a:latin typeface="Arial"/>
              </a:rPr>
              <a:t> + </a:t>
            </a:r>
            <a:r>
              <a:rPr sz="1200">
                <a:solidFill>
                  <a:srgbClr val="0D1B3E"/>
                </a:solidFill>
                <a:latin typeface="Consolas"/>
              </a:rPr>
              <a:t>backlog.md</a:t>
            </a:r>
            <a:r>
              <a:rPr sz="1300">
                <a:solidFill>
                  <a:srgbClr val="1A1A2E"/>
                </a:solidFill>
                <a:latin typeface="Arial"/>
              </a:rPr>
              <a:t> with </a:t>
            </a:r>
            <a:r>
              <a:rPr sz="1200">
                <a:solidFill>
                  <a:srgbClr val="0D1B3E"/>
                </a:solidFill>
                <a:latin typeface="Consolas"/>
              </a:rPr>
              <a:t>flock</a:t>
            </a:r>
            <a:r>
              <a:rPr sz="1300">
                <a:solidFill>
                  <a:srgbClr val="1A1A2E"/>
                </a:solidFill>
                <a:latin typeface="Arial"/>
              </a:rPr>
              <a:t> serialization.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C9A84C"/>
                </a:solidFill>
                <a:latin typeface="Arial"/>
              </a:rPr>
              <a:t>▸  </a:t>
            </a:r>
            <a:r>
              <a:rPr sz="1300">
                <a:solidFill>
                  <a:srgbClr val="1A1A2E"/>
                </a:solidFill>
                <a:latin typeface="Arial"/>
              </a:rPr>
              <a:t>Vertical slices (backend + iOS together) stay in ONE lane — never split.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C9A84C"/>
                </a:solidFill>
                <a:latin typeface="Arial"/>
              </a:rPr>
              <a:t>▸  </a:t>
            </a:r>
            <a:r>
              <a:rPr sz="1300">
                <a:solidFill>
                  <a:srgbClr val="1A1A2E"/>
                </a:solidFill>
                <a:latin typeface="Arial"/>
              </a:rPr>
              <a:t>Disk hygiene: Sunday prune; don't run docker stack in both lanes.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Arial"/>
              </a:rPr>
              <a:t>AURION CLINICAL AI  ·  Autonomous Coding Workflow  ·  Confidential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888888"/>
                </a:solidFill>
                <a:latin typeface="Arial"/>
              </a:rP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D1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Memory &amp; 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2E5FA3"/>
                </a:solidFill>
                <a:latin typeface="Arial"/>
              </a:rPr>
              <a:t>Everything durable lives in files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5800"/>
            <a:ext cx="12191695" cy="36576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3657600" cy="457200"/>
          </a:xfrm>
          <a:prstGeom prst="rect">
            <a:avLst/>
          </a:prstGeom>
          <a:solidFill>
            <a:srgbClr val="0D1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File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1280160"/>
            <a:ext cx="7589520" cy="457200"/>
          </a:xfrm>
          <a:prstGeom prst="rect">
            <a:avLst/>
          </a:prstGeom>
          <a:solidFill>
            <a:srgbClr val="0D1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0" y="1280160"/>
            <a:ext cx="758952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Purpose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737360"/>
            <a:ext cx="36576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73736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Arial"/>
              </a:rPr>
              <a:t>.claude/state/backlog.md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1737360"/>
            <a:ext cx="75895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0" y="1737360"/>
            <a:ext cx="75895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Arial"/>
              </a:rPr>
              <a:t>Canonical task list; lane-tagged; loop reads top-to-bottom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240280"/>
            <a:ext cx="3657600" cy="502920"/>
          </a:xfrm>
          <a:prstGeom prst="rect">
            <a:avLst/>
          </a:prstGeom>
          <a:solidFill>
            <a:srgbClr val="F7F8FA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24028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Arial"/>
              </a:rPr>
              <a:t>.claude/state/in-flight.json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0" y="2240280"/>
            <a:ext cx="7589520" cy="502920"/>
          </a:xfrm>
          <a:prstGeom prst="rect">
            <a:avLst/>
          </a:prstGeom>
          <a:solidFill>
            <a:srgbClr val="F7F8FA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2240280"/>
            <a:ext cx="75895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Arial"/>
              </a:rPr>
              <a:t>Per-lane current task — id, branch, PR, started_at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743200"/>
            <a:ext cx="36576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74320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Arial"/>
              </a:rPr>
              <a:t>.claude/state/alerts.md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0" y="2743200"/>
            <a:ext cx="75895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0" y="2743200"/>
            <a:ext cx="75895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Arial"/>
              </a:rPr>
              <a:t>Append-only; monitor writes, driver handles before new tasks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246120"/>
            <a:ext cx="3657600" cy="502920"/>
          </a:xfrm>
          <a:prstGeom prst="rect">
            <a:avLst/>
          </a:prstGeom>
          <a:solidFill>
            <a:srgbClr val="F7F8FA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24612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Arial"/>
              </a:rPr>
              <a:t>.claude/state/digest-cursor.txt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0" y="3246120"/>
            <a:ext cx="7589520" cy="502920"/>
          </a:xfrm>
          <a:prstGeom prst="rect">
            <a:avLst/>
          </a:prstGeom>
          <a:solidFill>
            <a:srgbClr val="F7F8FA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0" y="3246120"/>
            <a:ext cx="75895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Arial"/>
              </a:rPr>
              <a:t>Last-processed audit timestamp (digest dedup)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749040"/>
            <a:ext cx="36576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74904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Arial"/>
              </a:rPr>
              <a:t>memory/autonomous_authority.md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0" y="3749040"/>
            <a:ext cx="75895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0" y="3749040"/>
            <a:ext cx="75895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Arial"/>
              </a:rPr>
              <a:t>Authority rules; loaded by every loop tick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251960"/>
            <a:ext cx="3657600" cy="502920"/>
          </a:xfrm>
          <a:prstGeom prst="rect">
            <a:avLst/>
          </a:prstGeom>
          <a:solidFill>
            <a:srgbClr val="F7F8FA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25196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Arial"/>
              </a:rPr>
              <a:t>digests/YYYY-MM-DD.md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0" y="4251960"/>
            <a:ext cx="7589520" cy="502920"/>
          </a:xfrm>
          <a:prstGeom prst="rect">
            <a:avLst/>
          </a:prstGeom>
          <a:solidFill>
            <a:srgbClr val="F7F8FA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0" y="4251960"/>
            <a:ext cx="75895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Arial"/>
              </a:rPr>
              <a:t>One per weekday at 18:00; async catch-up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486400"/>
            <a:ext cx="11247120" cy="640080"/>
          </a:xfrm>
          <a:prstGeom prst="rect">
            <a:avLst/>
          </a:prstGeom>
          <a:solidFill>
            <a:srgbClr val="FBF8F2"/>
          </a:solidFill>
          <a:ln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548640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0" i="1">
                <a:solidFill>
                  <a:srgbClr val="0D1B3E"/>
                </a:solidFill>
                <a:latin typeface="Arial"/>
              </a:rPr>
              <a:t>Kill the loop, restart it, state is preserved.  Two lanes coordinate purely through these files.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Arial"/>
              </a:rPr>
              <a:t>AURION CLINICAL AI  ·  Autonomous Coding Workflow  ·  Confidential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888888"/>
                </a:solidFill>
                <a:latin typeface="Arial"/>
              </a:rP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D1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2E5FA3"/>
                </a:solidFill>
                <a:latin typeface="Arial"/>
              </a:rPr>
              <a:t>The eleven invocable commands the loop chains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5800"/>
            <a:ext cx="12191695" cy="36576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2286000" cy="365760"/>
          </a:xfrm>
          <a:prstGeom prst="rect">
            <a:avLst/>
          </a:prstGeom>
          <a:solidFill>
            <a:srgbClr val="0D1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Skill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1188720"/>
            <a:ext cx="8961120" cy="365760"/>
          </a:xfrm>
          <a:prstGeom prst="rect">
            <a:avLst/>
          </a:prstGeom>
          <a:solidFill>
            <a:srgbClr val="0D1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1188720"/>
            <a:ext cx="89611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Responsibility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2286000" cy="329184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554480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Arial"/>
              </a:rPr>
              <a:t>/next-task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1554480"/>
            <a:ext cx="8961120" cy="329184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0" y="1554480"/>
            <a:ext cx="896112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Arial"/>
              </a:rPr>
              <a:t>Lane-filtered pick of top Active item; move to In flight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883664"/>
            <a:ext cx="2286000" cy="329184"/>
          </a:xfrm>
          <a:prstGeom prst="rect">
            <a:avLst/>
          </a:prstGeom>
          <a:solidFill>
            <a:srgbClr val="F7F8FA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883664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Arial"/>
              </a:rPr>
              <a:t>/plan-task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1883664"/>
            <a:ext cx="8961120" cy="329184"/>
          </a:xfrm>
          <a:prstGeom prst="rect">
            <a:avLst/>
          </a:prstGeom>
          <a:solidFill>
            <a:srgbClr val="F7F8FA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1883664"/>
            <a:ext cx="896112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Arial"/>
              </a:rPr>
              <a:t>Plan subagent → produces AC + security implications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212848"/>
            <a:ext cx="2286000" cy="329184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212848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Arial"/>
              </a:rPr>
              <a:t>/implement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0" y="2212848"/>
            <a:ext cx="8961120" cy="329184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0" y="2212848"/>
            <a:ext cx="896112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Arial"/>
              </a:rPr>
              <a:t>Delegate to @backend-builder or @ios-builder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542032"/>
            <a:ext cx="2286000" cy="329184"/>
          </a:xfrm>
          <a:prstGeom prst="rect">
            <a:avLst/>
          </a:prstGeom>
          <a:solidFill>
            <a:srgbClr val="F7F8FA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2542032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Arial"/>
              </a:rPr>
              <a:t>/verify-acceptance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0" y="2542032"/>
            <a:ext cx="8961120" cy="329184"/>
          </a:xfrm>
          <a:prstGeom prst="rect">
            <a:avLst/>
          </a:prstGeom>
          <a:solidFill>
            <a:srgbClr val="F7F8FA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0" y="2542032"/>
            <a:ext cx="896112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Arial"/>
              </a:rPr>
              <a:t>MANDATORY gate — 5 sub-checks before PR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2871216"/>
            <a:ext cx="2286000" cy="329184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2871216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Arial"/>
              </a:rPr>
              <a:t>/simplify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0" y="2871216"/>
            <a:ext cx="8961120" cy="329184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0" y="2871216"/>
            <a:ext cx="896112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Arial"/>
              </a:rPr>
              <a:t>3-agent parallel review (reuse, quality, efficiency)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200400"/>
            <a:ext cx="2286000" cy="329184"/>
          </a:xfrm>
          <a:prstGeom prst="rect">
            <a:avLst/>
          </a:prstGeom>
          <a:solidFill>
            <a:srgbClr val="F7F8FA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200400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Arial"/>
              </a:rPr>
              <a:t>/open-pr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0" y="3200400"/>
            <a:ext cx="8961120" cy="329184"/>
          </a:xfrm>
          <a:prstGeom prst="rect">
            <a:avLst/>
          </a:prstGeom>
          <a:solidFill>
            <a:srgbClr val="F7F8FA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0" y="3200400"/>
            <a:ext cx="896112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Arial"/>
              </a:rPr>
              <a:t>Structured PR body, pre-tick provable security boxes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3529584"/>
            <a:ext cx="2286000" cy="329184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3529584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Arial"/>
              </a:rPr>
              <a:t>/await-ci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0" y="3529584"/>
            <a:ext cx="8961120" cy="329184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43200" y="3529584"/>
            <a:ext cx="896112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Arial"/>
              </a:rPr>
              <a:t>Poll gh pr checks; ScheduleWakeup pacing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3858768"/>
            <a:ext cx="2286000" cy="329184"/>
          </a:xfrm>
          <a:prstGeom prst="rect">
            <a:avLst/>
          </a:prstGeom>
          <a:solidFill>
            <a:srgbClr val="F7F8FA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3858768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Arial"/>
              </a:rPr>
              <a:t>/diagnose-ci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0" y="3858768"/>
            <a:ext cx="8961120" cy="329184"/>
          </a:xfrm>
          <a:prstGeom prst="rect">
            <a:avLst/>
          </a:prstGeom>
          <a:solidFill>
            <a:srgbClr val="F7F8FA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43200" y="3858768"/>
            <a:ext cx="896112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Arial"/>
              </a:rPr>
              <a:t>Fix red CI; max 3 attempts before flag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4187952"/>
            <a:ext cx="2286000" cy="329184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4187952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Arial"/>
              </a:rPr>
              <a:t>/auto-merge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0" y="4187952"/>
            <a:ext cx="8961120" cy="329184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43200" y="4187952"/>
            <a:ext cx="896112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Arial"/>
              </a:rPr>
              <a:t>Squash + delete branch; only on green + ticked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4517136"/>
            <a:ext cx="2286000" cy="329184"/>
          </a:xfrm>
          <a:prstGeom prst="rect">
            <a:avLst/>
          </a:prstGeom>
          <a:solidFill>
            <a:srgbClr val="F7F8FA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4517136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Arial"/>
              </a:rPr>
              <a:t>/daily-digest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0" y="4517136"/>
            <a:ext cx="8961120" cy="329184"/>
          </a:xfrm>
          <a:prstGeom prst="rect">
            <a:avLst/>
          </a:prstGeom>
          <a:solidFill>
            <a:srgbClr val="F7F8FA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43200" y="4517136"/>
            <a:ext cx="896112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Arial"/>
              </a:rPr>
              <a:t>Walk audit + git; write digest; post to Linear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4846320"/>
            <a:ext cx="2286000" cy="329184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" y="4846320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Arial"/>
              </a:rPr>
              <a:t>/monitor-tick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43200" y="4846320"/>
            <a:ext cx="8961120" cy="329184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0" y="4846320"/>
            <a:ext cx="896112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Arial"/>
              </a:rPr>
              <a:t>PR / Sentry / CloudWatch read; append to alerts.md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Arial"/>
              </a:rPr>
              <a:t>AURION CLINICAL AI  ·  Autonomous Coding Workflow  ·  Confidential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888888"/>
                </a:solidFill>
                <a:latin typeface="Arial"/>
              </a:rP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D1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Acceptance criteria + verification 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2E5FA3"/>
                </a:solidFill>
                <a:latin typeface="Arial"/>
              </a:rPr>
              <a:t>Every PR contains a working version of the app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5800"/>
            <a:ext cx="12191695" cy="36576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2E5FA3"/>
                </a:solidFill>
                <a:latin typeface="Arial"/>
              </a:rPr>
              <a:t>Plan must include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5486400" cy="4023360"/>
          </a:xfrm>
          <a:prstGeom prst="rect">
            <a:avLst/>
          </a:prstGeom>
          <a:solidFill>
            <a:srgbClr val="F2F4F8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5486400" cy="40233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0D1B3E"/>
                </a:solidFill>
                <a:latin typeface="Consolas"/>
              </a:rPr>
              <a:t>## Acceptance criteria</a:t>
            </a:r>
          </a:p>
          <a:p>
            <a:pPr algn="l"/>
            <a:r>
              <a:rPr sz="1100" b="0" i="0">
                <a:solidFill>
                  <a:srgbClr val="0D1B3E"/>
                </a:solidFill>
                <a:latin typeface="Consolas"/>
              </a:rPr>
              <a:t>- [ ] AC-1: {behavior},</a:t>
            </a:r>
          </a:p>
          <a:p>
            <a:pPr algn="l"/>
            <a:r>
              <a:rPr sz="1100" b="0" i="0">
                <a:solidFill>
                  <a:srgbClr val="0D1B3E"/>
                </a:solidFill>
                <a:latin typeface="Consolas"/>
              </a:rPr>
              <a:t>    verified by {pytest / curl}</a:t>
            </a:r>
          </a:p>
          <a:p>
            <a:pPr algn="l"/>
            <a:r>
              <a:rPr sz="1100" b="0" i="0">
                <a:solidFill>
                  <a:srgbClr val="0D1B3E"/>
                </a:solidFill>
                <a:latin typeface="Consolas"/>
              </a:rPr>
              <a:t>- [ ] AC-2: ...</a:t>
            </a:r>
          </a:p>
          <a:p>
            <a:pPr algn="l"/>
          </a:p>
          <a:p>
            <a:pPr algn="l"/>
            <a:r>
              <a:rPr sz="1100" b="0" i="0">
                <a:solidFill>
                  <a:srgbClr val="0D1B3E"/>
                </a:solidFill>
                <a:latin typeface="Consolas"/>
              </a:rPr>
              <a:t>## Test plan (executable)</a:t>
            </a:r>
          </a:p>
          <a:p>
            <a:pPr algn="l"/>
            <a:r>
              <a:rPr sz="1100" b="0" i="0">
                <a:solidFill>
                  <a:srgbClr val="0D1B3E"/>
                </a:solidFill>
                <a:latin typeface="Consolas"/>
              </a:rPr>
              <a:t>1. cd backend &amp;&amp; pytest -v</a:t>
            </a:r>
          </a:p>
          <a:p>
            <a:pPr algn="l"/>
            <a:r>
              <a:rPr sz="1100" b="0" i="0">
                <a:solidFill>
                  <a:srgbClr val="0D1B3E"/>
                </a:solidFill>
                <a:latin typeface="Consolas"/>
              </a:rPr>
              <a:t>2. curl localhost:8080/...</a:t>
            </a:r>
          </a:p>
          <a:p>
            <a:pPr algn="l"/>
            <a:r>
              <a:rPr sz="1100" b="0" i="0">
                <a:solidFill>
                  <a:srgbClr val="0D1B3E"/>
                </a:solidFill>
                <a:latin typeface="Consolas"/>
              </a:rPr>
              <a:t>3. xcodebuild ... build</a:t>
            </a:r>
          </a:p>
          <a:p>
            <a:pPr algn="l"/>
          </a:p>
          <a:p>
            <a:pPr algn="l"/>
            <a:r>
              <a:rPr sz="1100" b="0" i="0">
                <a:solidFill>
                  <a:srgbClr val="0D1B3E"/>
                </a:solidFill>
                <a:latin typeface="Consolas"/>
              </a:rPr>
              <a:t>## Security implications</a:t>
            </a:r>
          </a:p>
          <a:p>
            <a:pPr algn="l"/>
            <a:r>
              <a:rPr sz="1100" b="0" i="0">
                <a:solidFill>
                  <a:srgbClr val="0D1B3E"/>
                </a:solidFill>
                <a:latin typeface="Consolas"/>
              </a:rPr>
              <a:t>{PHI? Audit? Secrets? AI prompts?}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1887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2E5FA3"/>
                </a:solidFill>
                <a:latin typeface="Arial"/>
              </a:rPr>
              <a:t>Verification gate — all five must pass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554480"/>
            <a:ext cx="548640" cy="54864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5544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1554480"/>
            <a:ext cx="475488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Arial"/>
              </a:rPr>
              <a:t>Backend builds + pytest green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194560"/>
            <a:ext cx="548640" cy="54864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219456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194560"/>
            <a:ext cx="475488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Arial"/>
              </a:rPr>
              <a:t>iOS builds — iPhone 17 AND iPad Pro 11"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834639"/>
            <a:ext cx="548640" cy="54864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2834639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2834639"/>
            <a:ext cx="475488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Arial"/>
              </a:rPr>
              <a:t>docker compose up + /health = 200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474720"/>
            <a:ext cx="548640" cy="54864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347472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3474720"/>
            <a:ext cx="475488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Arial"/>
              </a:rPr>
              <a:t>Every AC verified by its command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4114800"/>
            <a:ext cx="548640" cy="54864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41148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4114800"/>
            <a:ext cx="475488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Arial"/>
              </a:rPr>
              <a:t>/simplify produces no P1 findings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5852160"/>
            <a:ext cx="12191695" cy="640080"/>
          </a:xfrm>
          <a:prstGeom prst="rect">
            <a:avLst/>
          </a:prstGeom>
          <a:solidFill>
            <a:srgbClr val="0D1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0" y="5852160"/>
            <a:ext cx="12191695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C9A84C"/>
                </a:solidFill>
                <a:latin typeface="Arial"/>
              </a:rPr>
              <a:t>Fail any → loop back to /implement with failure context.  Max 3 attempts before skip.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Arial"/>
              </a:rPr>
              <a:t>AURION CLINICAL AI  ·  Autonomous Coding Workflow  ·  Confidential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888888"/>
                </a:solidFill>
                <a:latin typeface="Arial"/>
              </a:rP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D1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PR template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2E5FA3"/>
                </a:solidFill>
                <a:latin typeface="Arial"/>
              </a:rPr>
              <a:t>Summary · What · Why · Test plan · Security checklist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5800"/>
            <a:ext cx="12191695" cy="36576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5669280" cy="5120640"/>
          </a:xfrm>
          <a:prstGeom prst="rect">
            <a:avLst/>
          </a:prstGeom>
          <a:solidFill>
            <a:srgbClr val="F2F4F8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5669280" cy="5120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0D1B3E"/>
                </a:solidFill>
                <a:latin typeface="Consolas"/>
              </a:rPr>
              <a:t>## Summary</a:t>
            </a:r>
          </a:p>
          <a:p>
            <a:pPr algn="l"/>
            <a:r>
              <a:rPr sz="1000" b="0" i="0">
                <a:solidFill>
                  <a:srgbClr val="0D1B3E"/>
                </a:solidFill>
                <a:latin typeface="Consolas"/>
              </a:rPr>
              <a:t>{1-2 sentences}</a:t>
            </a:r>
          </a:p>
          <a:p>
            <a:pPr algn="l"/>
          </a:p>
          <a:p>
            <a:pPr algn="l"/>
            <a:r>
              <a:rPr sz="1000" b="0" i="0">
                <a:solidFill>
                  <a:srgbClr val="0D1B3E"/>
                </a:solidFill>
                <a:latin typeface="Consolas"/>
              </a:rPr>
              <a:t>## What changed</a:t>
            </a:r>
          </a:p>
          <a:p>
            <a:pPr algn="l"/>
            <a:r>
              <a:rPr sz="1000" b="0" i="0">
                <a:solidFill>
                  <a:srgbClr val="0D1B3E"/>
                </a:solidFill>
                <a:latin typeface="Consolas"/>
              </a:rPr>
              <a:t>- Backend: ...</a:t>
            </a:r>
          </a:p>
          <a:p>
            <a:pPr algn="l"/>
            <a:r>
              <a:rPr sz="1000" b="0" i="0">
                <a:solidFill>
                  <a:srgbClr val="0D1B3E"/>
                </a:solidFill>
                <a:latin typeface="Consolas"/>
              </a:rPr>
              <a:t>- iOS: ...</a:t>
            </a:r>
          </a:p>
          <a:p>
            <a:pPr algn="l"/>
            <a:r>
              <a:rPr sz="1000" b="0" i="0">
                <a:solidFill>
                  <a:srgbClr val="0D1B3E"/>
                </a:solidFill>
                <a:latin typeface="Consolas"/>
              </a:rPr>
              <a:t>- Schema/Infra: ...</a:t>
            </a:r>
          </a:p>
          <a:p>
            <a:pPr algn="l"/>
            <a:r>
              <a:rPr sz="1000" b="0" i="0">
                <a:solidFill>
                  <a:srgbClr val="0D1B3E"/>
                </a:solidFill>
                <a:latin typeface="Consolas"/>
              </a:rPr>
              <a:t>- Tests: ...</a:t>
            </a:r>
          </a:p>
          <a:p>
            <a:pPr algn="l"/>
          </a:p>
          <a:p>
            <a:pPr algn="l"/>
            <a:r>
              <a:rPr sz="1000" b="0" i="0">
                <a:solidFill>
                  <a:srgbClr val="0D1B3E"/>
                </a:solidFill>
                <a:latin typeface="Consolas"/>
              </a:rPr>
              <a:t>## Why</a:t>
            </a:r>
          </a:p>
          <a:p>
            <a:pPr algn="l"/>
            <a:r>
              <a:rPr sz="1000" b="0" i="0">
                <a:solidFill>
                  <a:srgbClr val="0D1B3E"/>
                </a:solidFill>
                <a:latin typeface="Consolas"/>
              </a:rPr>
              <a:t>{Backlog ID + CLAUDE.md section}</a:t>
            </a:r>
          </a:p>
          <a:p>
            <a:pPr algn="l"/>
          </a:p>
          <a:p>
            <a:pPr algn="l"/>
            <a:r>
              <a:rPr sz="1000" b="0" i="0">
                <a:solidFill>
                  <a:srgbClr val="0D1B3E"/>
                </a:solidFill>
                <a:latin typeface="Consolas"/>
              </a:rPr>
              <a:t>## Test plan</a:t>
            </a:r>
          </a:p>
          <a:p>
            <a:pPr algn="l"/>
            <a:r>
              <a:rPr sz="1000" b="0" i="0">
                <a:solidFill>
                  <a:srgbClr val="0D1B3E"/>
                </a:solidFill>
                <a:latin typeface="Consolas"/>
              </a:rPr>
              <a:t>- [ ] pytest -q → N passed</a:t>
            </a:r>
          </a:p>
          <a:p>
            <a:pPr algn="l"/>
            <a:r>
              <a:rPr sz="1000" b="0" i="0">
                <a:solidFill>
                  <a:srgbClr val="0D1B3E"/>
                </a:solidFill>
                <a:latin typeface="Consolas"/>
              </a:rPr>
              <a:t>- [ ] iPhone 17 build → SUCCEEDED</a:t>
            </a:r>
          </a:p>
          <a:p>
            <a:pPr algn="l"/>
            <a:r>
              <a:rPr sz="1000" b="0" i="0">
                <a:solidFill>
                  <a:srgbClr val="0D1B3E"/>
                </a:solidFill>
                <a:latin typeface="Consolas"/>
              </a:rPr>
              <a:t>- [ ] iPad Pro 11" → SUCCEEDED</a:t>
            </a:r>
          </a:p>
          <a:p>
            <a:pPr algn="l"/>
            <a:r>
              <a:rPr sz="1000" b="0" i="0">
                <a:solidFill>
                  <a:srgbClr val="0D1B3E"/>
                </a:solidFill>
                <a:latin typeface="Consolas"/>
              </a:rPr>
              <a:t>- [ ] /health → 200</a:t>
            </a:r>
          </a:p>
          <a:p>
            <a:pPr algn="l"/>
            <a:r>
              <a:rPr sz="1000" b="0" i="0">
                <a:solidFill>
                  <a:srgbClr val="0D1B3E"/>
                </a:solidFill>
                <a:latin typeface="Consolas"/>
              </a:rPr>
              <a:t>- [ ] {Each AC + result}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18872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E5FA3"/>
                </a:solidFill>
                <a:latin typeface="Arial"/>
              </a:rPr>
              <a:t>Security checklist (10 items, auto-ticked when provable)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C9A84C"/>
                </a:solidFill>
                <a:latin typeface="Arial"/>
              </a:rPr>
              <a:t>▸  </a:t>
            </a:r>
            <a:r>
              <a:rPr sz="1100">
                <a:solidFill>
                  <a:srgbClr val="1A1A2E"/>
                </a:solidFill>
                <a:latin typeface="Arial"/>
              </a:rPr>
              <a:t>Descriptive mode (no diagnose/interpret)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C9A84C"/>
                </a:solidFill>
                <a:latin typeface="Arial"/>
              </a:rPr>
              <a:t>▸  </a:t>
            </a:r>
            <a:r>
              <a:rPr sz="1100">
                <a:solidFill>
                  <a:srgbClr val="1A1A2E"/>
                </a:solidFill>
                <a:latin typeface="Arial"/>
              </a:rPr>
              <a:t>No PHI in logs/errors/responses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C9A84C"/>
                </a:solidFill>
                <a:latin typeface="Arial"/>
              </a:rPr>
              <a:t>▸  </a:t>
            </a:r>
            <a:r>
              <a:rPr sz="1100">
                <a:solidFill>
                  <a:srgbClr val="1A1A2E"/>
                </a:solidFill>
                <a:latin typeface="Arial"/>
              </a:rPr>
              <a:t>AI calls via provider registry only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C9A84C"/>
                </a:solidFill>
                <a:latin typeface="Arial"/>
              </a:rPr>
              <a:t>▸  </a:t>
            </a:r>
            <a:r>
              <a:rPr sz="1100">
                <a:solidFill>
                  <a:srgbClr val="1A1A2E"/>
                </a:solidFill>
                <a:latin typeface="Arial"/>
              </a:rPr>
              <a:t>Masking proof on every frame upload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C9A84C"/>
                </a:solidFill>
                <a:latin typeface="Arial"/>
              </a:rPr>
              <a:t>▸  </a:t>
            </a:r>
            <a:r>
              <a:rPr sz="1100">
                <a:solidFill>
                  <a:srgbClr val="1A1A2E"/>
                </a:solidFill>
                <a:latin typeface="Arial"/>
              </a:rPr>
              <a:t>Audit log append-only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C9A84C"/>
                </a:solidFill>
                <a:latin typeface="Arial"/>
              </a:rPr>
              <a:t>▸  </a:t>
            </a:r>
            <a:r>
              <a:rPr sz="1100">
                <a:solidFill>
                  <a:srgbClr val="1A1A2E"/>
                </a:solidFill>
                <a:latin typeface="Arial"/>
              </a:rPr>
              <a:t>Secrets via Secrets Manager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C9A84C"/>
                </a:solidFill>
                <a:latin typeface="Arial"/>
              </a:rPr>
              <a:t>▸  </a:t>
            </a:r>
            <a:r>
              <a:rPr sz="1100">
                <a:solidFill>
                  <a:srgbClr val="1A1A2E"/>
                </a:solidFill>
                <a:latin typeface="Arial"/>
              </a:rPr>
              <a:t>Consent gate intact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C9A84C"/>
                </a:solidFill>
                <a:latin typeface="Arial"/>
              </a:rPr>
              <a:t>▸  </a:t>
            </a:r>
            <a:r>
              <a:rPr sz="1100">
                <a:solidFill>
                  <a:srgbClr val="1A1A2E"/>
                </a:solidFill>
                <a:latin typeface="Arial"/>
              </a:rPr>
              <a:t>Voice embedding stays in iOS Keychain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C9A84C"/>
                </a:solidFill>
                <a:latin typeface="Arial"/>
              </a:rPr>
              <a:t>▸  </a:t>
            </a:r>
            <a:r>
              <a:rPr sz="1100">
                <a:solidFill>
                  <a:srgbClr val="1A1A2E"/>
                </a:solidFill>
                <a:latin typeface="Arial"/>
              </a:rPr>
              <a:t>Stage 1 &lt; 30s / Stage 2 &lt; 5min SLA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C9A84C"/>
                </a:solidFill>
                <a:latin typeface="Arial"/>
              </a:rPr>
              <a:t>▸  </a:t>
            </a:r>
            <a:r>
              <a:rPr sz="1100">
                <a:solidFill>
                  <a:srgbClr val="1A1A2E"/>
                </a:solidFill>
                <a:latin typeface="Arial"/>
              </a:rPr>
              <a:t>Fail-closed masking — no raw-byte fallback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852160"/>
            <a:ext cx="12191695" cy="640080"/>
          </a:xfrm>
          <a:prstGeom prst="rect">
            <a:avLst/>
          </a:prstGeom>
          <a:solidFill>
            <a:srgbClr val="FBF8F2"/>
          </a:solidFill>
          <a:ln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585216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0" i="1">
                <a:solidFill>
                  <a:srgbClr val="0D1B3E"/>
                </a:solidFill>
                <a:latin typeface="Arial"/>
              </a:rPr>
              <a:t>Unticked box = auto-merge BLOCKED until human ticks. Belt and suspenders on CI.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Arial"/>
              </a:rPr>
              <a:t>AURION CLINICAL AI  ·  Autonomous Coding Workflow  · 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888888"/>
                </a:solidFill>
                <a:latin typeface="Arial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D1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Permission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2E5FA3"/>
                </a:solidFill>
                <a:latin typeface="Arial"/>
              </a:rPr>
              <a:t>Four layers, deepest first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5800"/>
            <a:ext cx="12191695" cy="36576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926080" cy="1005840"/>
          </a:xfrm>
          <a:prstGeom prst="rect">
            <a:avLst/>
          </a:prstGeom>
          <a:solidFill>
            <a:srgbClr val="0D1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2926080" cy="10058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C9A84C"/>
                </a:solidFill>
                <a:latin typeface="Arial"/>
              </a:rPr>
              <a:t>L1  ·  Mode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1280160"/>
            <a:ext cx="822960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371600"/>
            <a:ext cx="7955279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E5FA3"/>
                </a:solidFill>
                <a:latin typeface="Arial"/>
              </a:rPr>
              <a:t>default — NEVER bypassPermissions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737360"/>
            <a:ext cx="7955279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Arial"/>
              </a:rPr>
              <a:t>Unknown commands prompt → lane pauses, not blocked globally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423160"/>
            <a:ext cx="2926080" cy="1005840"/>
          </a:xfrm>
          <a:prstGeom prst="rect">
            <a:avLst/>
          </a:prstGeom>
          <a:solidFill>
            <a:srgbClr val="0D1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423160"/>
            <a:ext cx="2926080" cy="10058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C9A84C"/>
                </a:solidFill>
                <a:latin typeface="Arial"/>
              </a:rPr>
              <a:t>L2  ·  Allow-list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0" y="2423160"/>
            <a:ext cx="822960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2514600"/>
            <a:ext cx="7955279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E5FA3"/>
                </a:solidFill>
                <a:latin typeface="Arial"/>
              </a:rPr>
              <a:t>Pre-approved patterns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880360"/>
            <a:ext cx="7955279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Arial"/>
              </a:rPr>
              <a:t>pytest, xcodebuild, docker, gh, git lane-* push, terraform plan/dev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566160"/>
            <a:ext cx="2926080" cy="1005840"/>
          </a:xfrm>
          <a:prstGeom prst="rect">
            <a:avLst/>
          </a:prstGeom>
          <a:solidFill>
            <a:srgbClr val="0D1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566160"/>
            <a:ext cx="2926080" cy="10058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C9A84C"/>
                </a:solidFill>
                <a:latin typeface="Arial"/>
              </a:rPr>
              <a:t>L3  ·  Deny-list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74720" y="3566160"/>
            <a:ext cx="822960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0" y="3657600"/>
            <a:ext cx="7955279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E5FA3"/>
                </a:solidFill>
                <a:latin typeface="Arial"/>
              </a:rPr>
              <a:t>Hard blocks override Allow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4023360"/>
            <a:ext cx="7955279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Arial"/>
              </a:rPr>
              <a:t>rm -rf, force-push, terraform apply prod, aws delete-*, prod profile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709160"/>
            <a:ext cx="2926080" cy="1005840"/>
          </a:xfrm>
          <a:prstGeom prst="rect">
            <a:avLst/>
          </a:prstGeom>
          <a:solidFill>
            <a:srgbClr val="0D1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709160"/>
            <a:ext cx="2926080" cy="10058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C9A84C"/>
                </a:solidFill>
                <a:latin typeface="Arial"/>
              </a:rPr>
              <a:t>L4  ·  guard-destructive.sh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74720" y="4709160"/>
            <a:ext cx="822960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0" y="4800600"/>
            <a:ext cx="7955279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E5FA3"/>
                </a:solidFill>
                <a:latin typeface="Arial"/>
              </a:rPr>
              <a:t>PreToolUse hook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5166360"/>
            <a:ext cx="7955279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Arial"/>
              </a:rPr>
              <a:t>Catches multi-command bash, pipe-to-bash, prod account IDs, audit deletes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Arial"/>
              </a:rPr>
              <a:t>AURION CLINICAL AI  ·  Autonomous Coding Workflow  ·  Confidential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888888"/>
                </a:solidFill>
                <a:latin typeface="Arial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D1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Hooks &amp; MCP servers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2E5FA3"/>
                </a:solidFill>
                <a:latin typeface="Arial"/>
              </a:rPr>
              <a:t>Safety in the editor, integrations to GitHub / Linear / AWS / Sentry / Postgres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5800"/>
            <a:ext cx="12191695" cy="36576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2E5FA3"/>
                </a:solidFill>
                <a:latin typeface="Arial"/>
              </a:rPr>
              <a:t>Hooks (.claude/settings.json)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C9A84C"/>
                </a:solidFill>
                <a:latin typeface="Arial"/>
              </a:rPr>
              <a:t>▸  </a:t>
            </a:r>
            <a:r>
              <a:rPr sz="1200">
                <a:solidFill>
                  <a:srgbClr val="0D1B3E"/>
                </a:solidFill>
                <a:latin typeface="Consolas"/>
              </a:rPr>
              <a:t>phi-scan.sh</a:t>
            </a:r>
            <a:r>
              <a:rPr sz="1300">
                <a:solidFill>
                  <a:srgbClr val="1A1A2E"/>
                </a:solidFill>
                <a:latin typeface="Arial"/>
              </a:rPr>
              <a:t> — blocks Write/Edit if PHI in logs/errors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C9A84C"/>
                </a:solidFill>
                <a:latin typeface="Arial"/>
              </a:rPr>
              <a:t>▸  </a:t>
            </a:r>
            <a:r>
              <a:rPr sz="1200">
                <a:solidFill>
                  <a:srgbClr val="0D1B3E"/>
                </a:solidFill>
                <a:latin typeface="Consolas"/>
              </a:rPr>
              <a:t>auto-lint.sh</a:t>
            </a:r>
            <a:r>
              <a:rPr sz="1300">
                <a:solidFill>
                  <a:srgbClr val="1A1A2E"/>
                </a:solidFill>
                <a:latin typeface="Arial"/>
              </a:rPr>
              <a:t> — ruff for Python, swift-format for Swift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C9A84C"/>
                </a:solidFill>
                <a:latin typeface="Arial"/>
              </a:rPr>
              <a:t>▸  </a:t>
            </a:r>
            <a:r>
              <a:rPr sz="1200">
                <a:solidFill>
                  <a:srgbClr val="0D1B3E"/>
                </a:solidFill>
                <a:latin typeface="Consolas"/>
              </a:rPr>
              <a:t>unit-tests-on-write.sh</a:t>
            </a:r>
            <a:r>
              <a:rPr sz="1300">
                <a:solidFill>
                  <a:srgbClr val="1A1A2E"/>
                </a:solidFill>
                <a:latin typeface="Arial"/>
              </a:rPr>
              <a:t> — runs matching test file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C9A84C"/>
                </a:solidFill>
                <a:latin typeface="Arial"/>
              </a:rPr>
              <a:t>▸  </a:t>
            </a:r>
            <a:r>
              <a:rPr sz="1200">
                <a:solidFill>
                  <a:srgbClr val="0D1B3E"/>
                </a:solidFill>
                <a:latin typeface="Consolas"/>
              </a:rPr>
              <a:t>guard-destructive.sh</a:t>
            </a:r>
            <a:r>
              <a:rPr sz="1300">
                <a:solidFill>
                  <a:srgbClr val="1A1A2E"/>
                </a:solidFill>
                <a:latin typeface="Arial"/>
              </a:rPr>
              <a:t> — blocks rm/force-push/prod/audit-delete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1887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2E5FA3"/>
                </a:solidFill>
                <a:latin typeface="Arial"/>
              </a:rPr>
              <a:t>MCP servers (.claude/mcp.json)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5544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C9A84C"/>
                </a:solidFill>
                <a:latin typeface="Arial"/>
              </a:rPr>
              <a:t>▸  </a:t>
            </a:r>
            <a:r>
              <a:rPr sz="1200">
                <a:solidFill>
                  <a:srgbClr val="0D1B3E"/>
                </a:solidFill>
                <a:latin typeface="Consolas"/>
              </a:rPr>
              <a:t>postgres-dev</a:t>
            </a:r>
            <a:r>
              <a:rPr sz="1300">
                <a:solidFill>
                  <a:srgbClr val="1A1A2E"/>
                </a:solidFill>
                <a:latin typeface="Arial"/>
              </a:rPr>
              <a:t> — verify migrations took effect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C9A84C"/>
                </a:solidFill>
                <a:latin typeface="Arial"/>
              </a:rPr>
              <a:t>▸  </a:t>
            </a:r>
            <a:r>
              <a:rPr sz="1200">
                <a:solidFill>
                  <a:srgbClr val="0D1B3E"/>
                </a:solidFill>
                <a:latin typeface="Consolas"/>
              </a:rPr>
              <a:t>github</a:t>
            </a:r>
            <a:r>
              <a:rPr sz="1300">
                <a:solidFill>
                  <a:srgbClr val="1A1A2E"/>
                </a:solidFill>
                <a:latin typeface="Arial"/>
              </a:rPr>
              <a:t> — PR / CI status / merge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C9A84C"/>
                </a:solidFill>
                <a:latin typeface="Arial"/>
              </a:rPr>
              <a:t>▸  </a:t>
            </a:r>
            <a:r>
              <a:rPr sz="1200">
                <a:solidFill>
                  <a:srgbClr val="0D1B3E"/>
                </a:solidFill>
                <a:latin typeface="Consolas"/>
              </a:rPr>
              <a:t>linear</a:t>
            </a:r>
            <a:r>
              <a:rPr sz="1300">
                <a:solidFill>
                  <a:srgbClr val="1A1A2E"/>
                </a:solidFill>
                <a:latin typeface="Arial"/>
              </a:rPr>
              <a:t> — sub-issues + daily digest + alerts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C9A84C"/>
                </a:solidFill>
                <a:latin typeface="Arial"/>
              </a:rPr>
              <a:t>▸  </a:t>
            </a:r>
            <a:r>
              <a:rPr sz="1200">
                <a:solidFill>
                  <a:srgbClr val="0D1B3E"/>
                </a:solidFill>
                <a:latin typeface="Consolas"/>
              </a:rPr>
              <a:t>aws-dev</a:t>
            </a:r>
            <a:r>
              <a:rPr sz="1300">
                <a:solidFill>
                  <a:srgbClr val="1A1A2E"/>
                </a:solidFill>
                <a:latin typeface="Arial"/>
              </a:rPr>
              <a:t> — CloudWatch + Terraform dev only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C9A84C"/>
                </a:solidFill>
                <a:latin typeface="Arial"/>
              </a:rPr>
              <a:t>▸  </a:t>
            </a:r>
            <a:r>
              <a:rPr sz="1200">
                <a:solidFill>
                  <a:srgbClr val="0D1B3E"/>
                </a:solidFill>
                <a:latin typeface="Consolas"/>
              </a:rPr>
              <a:t>sentry</a:t>
            </a:r>
            <a:r>
              <a:rPr sz="1300">
                <a:solidFill>
                  <a:srgbClr val="1A1A2E"/>
                </a:solidFill>
                <a:latin typeface="Arial"/>
              </a:rPr>
              <a:t> — issue triage during /diagnose-ci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852160"/>
            <a:ext cx="12191695" cy="640080"/>
          </a:xfrm>
          <a:prstGeom prst="rect">
            <a:avLst/>
          </a:prstGeom>
          <a:solidFill>
            <a:srgbClr val="0D1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0" y="5852160"/>
            <a:ext cx="12191695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C9A84C"/>
                </a:solidFill>
                <a:latin typeface="Arial"/>
              </a:rPr>
              <a:t>Only aws-dev profile is exposed.  Prod credentials never get an MCP.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Arial"/>
              </a:rPr>
              <a:t>AURION CLINICAL AI  ·  Autonomous Coding Workflow  · 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888888"/>
                </a:solidFill>
                <a:latin typeface="Arial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D1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Task lifecycle — one tick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2E5FA3"/>
                </a:solidFill>
                <a:latin typeface="Arial"/>
              </a:rPr>
              <a:t>Plan → implement → verify → ship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5800"/>
            <a:ext cx="12191695" cy="36576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548640" cy="64008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80160"/>
            <a:ext cx="54864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1280160"/>
            <a:ext cx="32004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32588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  <a:latin typeface="Arial"/>
              </a:rPr>
              <a:t>Read alerts.md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60020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Arial"/>
              </a:rPr>
              <a:t>Handle new alerts before any task work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280160"/>
            <a:ext cx="548640" cy="64008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1280160"/>
            <a:ext cx="54864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92040" y="1280160"/>
            <a:ext cx="32004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132588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  <a:latin typeface="Arial"/>
              </a:rPr>
              <a:t>/next-task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160020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Arial"/>
              </a:rPr>
              <a:t>Lane-filtered, dep-checked pick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280160"/>
            <a:ext cx="548640" cy="64008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280160"/>
            <a:ext cx="54864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23960" y="1280160"/>
            <a:ext cx="32004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5400" y="132588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  <a:latin typeface="Arial"/>
              </a:rPr>
              <a:t>/plan-task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400" y="160020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Arial"/>
              </a:rPr>
              <a:t>AC + security + executable test plan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194560"/>
            <a:ext cx="548640" cy="64008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2194560"/>
            <a:ext cx="54864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0120" y="2194560"/>
            <a:ext cx="32004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224028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  <a:latin typeface="Arial"/>
              </a:rPr>
              <a:t>Branch + plan commit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251460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Arial"/>
              </a:rPr>
              <a:t>lane-X/{task-id}; docs: plan for X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97680" y="2194560"/>
            <a:ext cx="548640" cy="64008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97680" y="2194560"/>
            <a:ext cx="54864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92040" y="2194560"/>
            <a:ext cx="32004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83480" y="224028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  <a:latin typeface="Arial"/>
              </a:rPr>
              <a:t>Linear sub-issue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83480" y="251460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Arial"/>
              </a:rPr>
              <a:t>Post plan for transparency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2194560"/>
            <a:ext cx="548640" cy="64008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0" y="2194560"/>
            <a:ext cx="54864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23960" y="2194560"/>
            <a:ext cx="32004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15400" y="224028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  <a:latin typeface="Arial"/>
              </a:rPr>
              <a:t>/implement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15400" y="251460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Arial"/>
              </a:rPr>
              <a:t>@backend-builder or @ios-builder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3108960"/>
            <a:ext cx="548640" cy="64008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3108960"/>
            <a:ext cx="54864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60120" y="3108960"/>
            <a:ext cx="32004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315468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  <a:latin typeface="Arial"/>
              </a:rPr>
              <a:t>@test-writer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342900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Arial"/>
              </a:rPr>
              <a:t>Tests for each AC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97680" y="3108960"/>
            <a:ext cx="548640" cy="64008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97680" y="3108960"/>
            <a:ext cx="54864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892040" y="3108960"/>
            <a:ext cx="32004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83480" y="315468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  <a:latin typeface="Arial"/>
              </a:rPr>
              <a:t>@compliance-checker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83480" y="342900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Arial"/>
              </a:rPr>
              <a:t>PHI + descriptive-mode scan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29600" y="3108960"/>
            <a:ext cx="548640" cy="64008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29600" y="3108960"/>
            <a:ext cx="54864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823960" y="3108960"/>
            <a:ext cx="32004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915400" y="315468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  <a:latin typeface="Arial"/>
              </a:rPr>
              <a:t>/verify-acceptance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915400" y="342900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Arial"/>
              </a:rPr>
              <a:t>GATE: 5 sub-checks must pass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5760" y="4023360"/>
            <a:ext cx="548640" cy="64008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5760" y="4023360"/>
            <a:ext cx="54864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0120" y="4023360"/>
            <a:ext cx="32004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51560" y="406908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  <a:latin typeface="Arial"/>
              </a:rPr>
              <a:t>/open-pr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1560" y="434340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Arial"/>
              </a:rPr>
              <a:t>Structured body, pre-tick boxes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297680" y="4023360"/>
            <a:ext cx="548640" cy="64008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297680" y="4023360"/>
            <a:ext cx="54864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892040" y="4023360"/>
            <a:ext cx="32004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983480" y="406908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  <a:latin typeface="Arial"/>
              </a:rPr>
              <a:t>/await-ci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983480" y="434340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Arial"/>
              </a:rPr>
              <a:t>Poll until green or red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229600" y="4023360"/>
            <a:ext cx="548640" cy="64008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229600" y="4023360"/>
            <a:ext cx="54864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823960" y="4023360"/>
            <a:ext cx="32004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915400" y="406908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  <a:latin typeface="Arial"/>
              </a:rPr>
              <a:t>/auto-merge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915400" y="434340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Arial"/>
              </a:rPr>
              <a:t>Squash + delete branch; → Done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65760" y="4937760"/>
            <a:ext cx="548640" cy="64008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65760" y="4937760"/>
            <a:ext cx="54864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13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60120" y="4937760"/>
            <a:ext cx="32004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51560" y="498348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  <a:latin typeface="Arial"/>
              </a:rPr>
              <a:t>/next-task again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51560" y="525780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Arial"/>
              </a:rPr>
              <a:t>Back to step 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Arial"/>
              </a:rPr>
              <a:t>AURION CLINICAL AI  ·  Autonomous Coding Workflow  ·  Confidential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888888"/>
                </a:solidFill>
                <a:latin typeface="Arial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D1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Failure modes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2E5FA3"/>
                </a:solidFill>
                <a:latin typeface="Arial"/>
              </a:rPr>
              <a:t>What the loop does when things go wrong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5800"/>
            <a:ext cx="12191695" cy="36576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3931920" cy="411480"/>
          </a:xfrm>
          <a:prstGeom prst="rect">
            <a:avLst/>
          </a:prstGeom>
          <a:solidFill>
            <a:srgbClr val="0D1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Failure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188720"/>
            <a:ext cx="7315200" cy="411480"/>
          </a:xfrm>
          <a:prstGeom prst="rect">
            <a:avLst/>
          </a:prstGeom>
          <a:solidFill>
            <a:srgbClr val="0D1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188720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Response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600200"/>
            <a:ext cx="3931920" cy="384048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600200"/>
            <a:ext cx="3931920" cy="38404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Arial"/>
              </a:rPr>
              <a:t>Plan missing AC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1600200"/>
            <a:ext cx="73152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600200"/>
            <a:ext cx="7315200" cy="38404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Arial"/>
              </a:rPr>
              <a:t>Re-invoke Plan subagent. 2 retries → alert.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984248"/>
            <a:ext cx="3931920" cy="384048"/>
          </a:xfrm>
          <a:prstGeom prst="rect">
            <a:avLst/>
          </a:prstGeom>
          <a:solidFill>
            <a:srgbClr val="F7F8FA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984248"/>
            <a:ext cx="3931920" cy="38404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Arial"/>
              </a:rPr>
              <a:t>AC verification fails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1984248"/>
            <a:ext cx="7315200" cy="384048"/>
          </a:xfrm>
          <a:prstGeom prst="rect">
            <a:avLst/>
          </a:prstGeom>
          <a:solidFill>
            <a:srgbClr val="F7F8FA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1984248"/>
            <a:ext cx="7315200" cy="38404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Arial"/>
              </a:rPr>
              <a:t>Back to /implement. 3 retries → skip + alert.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368296"/>
            <a:ext cx="3931920" cy="384048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368296"/>
            <a:ext cx="3931920" cy="38404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Arial"/>
              </a:rPr>
              <a:t>iPhone green, iPad red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0" y="2368296"/>
            <a:ext cx="73152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2368296"/>
            <a:ext cx="7315200" cy="38404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Arial"/>
              </a:rPr>
              <a:t>AC fail (universal-app rule). Back to implement.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752344"/>
            <a:ext cx="3931920" cy="384048"/>
          </a:xfrm>
          <a:prstGeom prst="rect">
            <a:avLst/>
          </a:prstGeom>
          <a:solidFill>
            <a:srgbClr val="F7F8FA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2752344"/>
            <a:ext cx="3931920" cy="38404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Arial"/>
              </a:rPr>
              <a:t>/health 200 but stack flaky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89120" y="2752344"/>
            <a:ext cx="7315200" cy="384048"/>
          </a:xfrm>
          <a:prstGeom prst="rect">
            <a:avLst/>
          </a:prstGeom>
          <a:solidFill>
            <a:srgbClr val="F7F8FA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0" y="2752344"/>
            <a:ext cx="7315200" cy="38404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Arial"/>
              </a:rPr>
              <a:t>AC fail. Back to implement.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136392"/>
            <a:ext cx="3931920" cy="384048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136392"/>
            <a:ext cx="3931920" cy="38404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Arial"/>
              </a:rPr>
              <a:t>/simplify P1 finding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89120" y="3136392"/>
            <a:ext cx="73152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0" y="3136392"/>
            <a:ext cx="7315200" cy="38404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Arial"/>
              </a:rPr>
              <a:t>Auto-fix if clean; else back to implement.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520440"/>
            <a:ext cx="3931920" cy="384048"/>
          </a:xfrm>
          <a:prstGeom prst="rect">
            <a:avLst/>
          </a:prstGeom>
          <a:solidFill>
            <a:srgbClr val="F7F8FA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520440"/>
            <a:ext cx="3931920" cy="38404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Arial"/>
              </a:rPr>
              <a:t>Security box unprovable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0" y="3520440"/>
            <a:ext cx="7315200" cy="384048"/>
          </a:xfrm>
          <a:prstGeom prst="rect">
            <a:avLst/>
          </a:prstGeom>
          <a:solidFill>
            <a:srgbClr val="F7F8FA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0" y="3520440"/>
            <a:ext cx="7315200" cy="38404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Arial"/>
              </a:rPr>
              <a:t>PR opens; auto-merge BLOCKED until human ticks.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3904488"/>
            <a:ext cx="3931920" cy="384048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3904488"/>
            <a:ext cx="3931920" cy="38404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Arial"/>
              </a:rPr>
              <a:t>CI red after 3 attempts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89120" y="3904488"/>
            <a:ext cx="73152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89120" y="3904488"/>
            <a:ext cx="7315200" cy="38404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Arial"/>
              </a:rPr>
              <a:t>Append to alerts.md, move to Blocked, pick next.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4288536"/>
            <a:ext cx="3931920" cy="384048"/>
          </a:xfrm>
          <a:prstGeom prst="rect">
            <a:avLst/>
          </a:prstGeom>
          <a:solidFill>
            <a:srgbClr val="F7F8FA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4288536"/>
            <a:ext cx="3931920" cy="38404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Arial"/>
              </a:rPr>
              <a:t>3 consecutive blocks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89120" y="4288536"/>
            <a:ext cx="7315200" cy="384048"/>
          </a:xfrm>
          <a:prstGeom prst="rect">
            <a:avLst/>
          </a:prstGeom>
          <a:solidFill>
            <a:srgbClr val="F7F8FA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89120" y="4288536"/>
            <a:ext cx="7315200" cy="38404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Arial"/>
              </a:rPr>
              <a:t>Loop pauses globally, posts alert, waits for human.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4672584"/>
            <a:ext cx="3931920" cy="384048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4672584"/>
            <a:ext cx="3931920" cy="38404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Arial"/>
              </a:rPr>
              <a:t>Unknown Bash command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89120" y="4672584"/>
            <a:ext cx="73152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89120" y="4672584"/>
            <a:ext cx="7315200" cy="38404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Arial"/>
              </a:rPr>
              <a:t>Lane pauses, other lane runs; human approves or denies.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5056632"/>
            <a:ext cx="3931920" cy="384048"/>
          </a:xfrm>
          <a:prstGeom prst="rect">
            <a:avLst/>
          </a:prstGeom>
          <a:solidFill>
            <a:srgbClr val="F7F8FA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5056632"/>
            <a:ext cx="3931920" cy="38404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Arial"/>
              </a:rPr>
              <a:t>Both lanes write backlog.md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389120" y="5056632"/>
            <a:ext cx="7315200" cy="384048"/>
          </a:xfrm>
          <a:prstGeom prst="rect">
            <a:avLst/>
          </a:prstGeom>
          <a:solidFill>
            <a:srgbClr val="F7F8FA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89120" y="5056632"/>
            <a:ext cx="7315200" cy="38404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Arial"/>
              </a:rPr>
              <a:t>flock serializes; second waits.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Arial"/>
              </a:rPr>
              <a:t>AURION CLINICAL AI  ·  Autonomous Coding Workflow  ·  Confidential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888888"/>
                </a:solidFill>
                <a:latin typeface="Arial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D1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Setup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2E5FA3"/>
                </a:solidFill>
                <a:latin typeface="Arial"/>
              </a:rPr>
              <a:t>Bottom-up, ~1 day of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5800"/>
            <a:ext cx="12191695" cy="36576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457200" cy="54864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371600"/>
            <a:ext cx="411480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Arial"/>
              </a:rPr>
              <a:t>Backlog + authority memory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371600"/>
            <a:ext cx="73152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0" i="1">
                <a:solidFill>
                  <a:srgbClr val="888888"/>
                </a:solidFill>
                <a:latin typeface="Arial"/>
              </a:rPr>
              <a:t>15m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057400"/>
            <a:ext cx="457200" cy="54864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057400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057400"/>
            <a:ext cx="411480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Arial"/>
              </a:rPr>
              <a:t>Permission allow/deny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057400"/>
            <a:ext cx="73152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0" i="1">
                <a:solidFill>
                  <a:srgbClr val="888888"/>
                </a:solidFill>
                <a:latin typeface="Arial"/>
              </a:rPr>
              <a:t>30m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743200"/>
            <a:ext cx="457200" cy="54864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743200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743200"/>
            <a:ext cx="411480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Arial"/>
              </a:rPr>
              <a:t>/next-task + /open-pr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2743200"/>
            <a:ext cx="73152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0" i="1">
                <a:solidFill>
                  <a:srgbClr val="888888"/>
                </a:solidFill>
                <a:latin typeface="Arial"/>
              </a:rPr>
              <a:t>1h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429000"/>
            <a:ext cx="457200" cy="54864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429000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429000"/>
            <a:ext cx="411480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Arial"/>
              </a:rPr>
              <a:t>GitHub + Linear MCP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3429000"/>
            <a:ext cx="73152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0" i="1">
                <a:solidFill>
                  <a:srgbClr val="888888"/>
                </a:solidFill>
                <a:latin typeface="Arial"/>
              </a:rPr>
              <a:t>30m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114800"/>
            <a:ext cx="457200" cy="54864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114800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114800"/>
            <a:ext cx="411480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Arial"/>
              </a:rPr>
              <a:t>/plan-task + /verify-acceptance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4114800"/>
            <a:ext cx="73152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0" i="1">
                <a:solidFill>
                  <a:srgbClr val="888888"/>
                </a:solidFill>
                <a:latin typeface="Arial"/>
              </a:rPr>
              <a:t>2h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800600"/>
            <a:ext cx="457200" cy="54864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800600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4800600"/>
            <a:ext cx="411480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Arial"/>
              </a:rPr>
              <a:t>Hooks (phi-scan, guard-destructive)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4800600"/>
            <a:ext cx="73152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0" i="1">
                <a:solidFill>
                  <a:srgbClr val="888888"/>
                </a:solidFill>
                <a:latin typeface="Arial"/>
              </a:rPr>
              <a:t>1h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486400"/>
            <a:ext cx="457200" cy="548640"/>
          </a:xfrm>
          <a:prstGeom prst="rect">
            <a:avLst/>
          </a:prstGeom>
          <a:solidFill>
            <a:srgbClr val="2E5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5486400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5486400"/>
            <a:ext cx="411480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E5FA3"/>
                </a:solidFill>
                <a:latin typeface="Arial"/>
              </a:rPr>
              <a:t>Manual loop test on one task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0" y="5486400"/>
            <a:ext cx="73152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0" i="1">
                <a:solidFill>
                  <a:srgbClr val="888888"/>
                </a:solidFill>
                <a:latin typeface="Arial"/>
              </a:rPr>
              <a:t>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1371600"/>
            <a:ext cx="457200" cy="54864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1371600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1371600"/>
            <a:ext cx="411480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Arial"/>
              </a:rPr>
              <a:t>/await-ci + /auto-merge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1371600"/>
            <a:ext cx="73152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0" i="1">
                <a:solidFill>
                  <a:srgbClr val="888888"/>
                </a:solidFill>
                <a:latin typeface="Arial"/>
              </a:rPr>
              <a:t>1h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2057400"/>
            <a:ext cx="457200" cy="54864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2057400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0" y="2057400"/>
            <a:ext cx="411480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C9A84C"/>
                </a:solidFill>
                <a:latin typeface="Arial"/>
              </a:rPr>
              <a:t>FIRST AUTONOMOUS RUN (P0-04)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2057400"/>
            <a:ext cx="73152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0" i="1">
                <a:solidFill>
                  <a:srgbClr val="888888"/>
                </a:solidFill>
                <a:latin typeface="Arial"/>
              </a:rPr>
              <a:t>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2743200"/>
            <a:ext cx="457200" cy="54864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0" y="2743200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49440" y="2743200"/>
            <a:ext cx="411480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Arial"/>
              </a:rPr>
              <a:t>Worktrees + lane tags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2743200"/>
            <a:ext cx="73152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0" i="1">
                <a:solidFill>
                  <a:srgbClr val="888888"/>
                </a:solidFill>
                <a:latin typeface="Arial"/>
              </a:rPr>
              <a:t>30m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0" y="3429000"/>
            <a:ext cx="457200" cy="54864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0" y="3429000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49440" y="3429000"/>
            <a:ext cx="411480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Arial"/>
              </a:rPr>
              <a:t>Monitor cron + alerts.md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72800" y="3429000"/>
            <a:ext cx="73152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0" i="1">
                <a:solidFill>
                  <a:srgbClr val="888888"/>
                </a:solidFill>
                <a:latin typeface="Arial"/>
              </a:rPr>
              <a:t>30m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0" y="4114800"/>
            <a:ext cx="457200" cy="54864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0" y="4114800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49440" y="4114800"/>
            <a:ext cx="411480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Arial"/>
              </a:rPr>
              <a:t>Daily digest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972800" y="4114800"/>
            <a:ext cx="73152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0" i="1">
                <a:solidFill>
                  <a:srgbClr val="888888"/>
                </a:solidFill>
                <a:latin typeface="Arial"/>
              </a:rPr>
              <a:t>30m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00800" y="4800600"/>
            <a:ext cx="457200" cy="54864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0" y="4800600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49440" y="4800600"/>
            <a:ext cx="411480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C9A84C"/>
                </a:solidFill>
                <a:latin typeface="Arial"/>
              </a:rPr>
              <a:t>Two-lane operation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972800" y="4800600"/>
            <a:ext cx="73152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0" i="1">
                <a:solidFill>
                  <a:srgbClr val="888888"/>
                </a:solidFill>
                <a:latin typeface="Arial"/>
              </a:rPr>
              <a:t>—</a:t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6126480"/>
            <a:ext cx="12191695" cy="457200"/>
          </a:xfrm>
          <a:prstGeom prst="rect">
            <a:avLst/>
          </a:prstGeom>
          <a:solidFill>
            <a:srgbClr val="FBF8F2"/>
          </a:solidFill>
          <a:ln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0" y="6126480"/>
            <a:ext cx="12191695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0D1B3E"/>
                </a:solidFill>
                <a:latin typeface="Arial"/>
              </a:rPr>
              <a:t>Steps 9 and 13 are TRUST GATES. Don't skip.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Arial"/>
              </a:rPr>
              <a:t>AURION CLINICAL AI  ·  Autonomous Coding Workflow  ·  Confidential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888888"/>
                </a:solidFill>
                <a:latin typeface="Arial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D1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Pilot-specific guardrails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2E5FA3"/>
                </a:solidFill>
                <a:latin typeface="Arial"/>
              </a:rPr>
              <a:t>Non-negotiables for the CREOQ/CLLC pilot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5800"/>
            <a:ext cx="12191695" cy="36576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00" b="1">
                <a:solidFill>
                  <a:srgbClr val="C9A84C"/>
                </a:solidFill>
                <a:latin typeface="Arial"/>
              </a:rPr>
              <a:t>▸  </a:t>
            </a:r>
            <a:r>
              <a:rPr sz="1400">
                <a:solidFill>
                  <a:srgbClr val="1A1A2E"/>
                </a:solidFill>
                <a:latin typeface="Arial"/>
              </a:rPr>
              <a:t>Touching </a:t>
            </a:r>
            <a:r>
              <a:rPr sz="1300">
                <a:solidFill>
                  <a:srgbClr val="0D1B3E"/>
                </a:solidFill>
                <a:latin typeface="Consolas"/>
              </a:rPr>
              <a:t>app/api/v1/screen.py</a:t>
            </a:r>
            <a:r>
              <a:rPr sz="1400">
                <a:solidFill>
                  <a:srgbClr val="1A1A2E"/>
                </a:solidFill>
                <a:latin typeface="Arial"/>
              </a:rPr>
              <a:t>, </a:t>
            </a:r>
            <a:r>
              <a:rPr sz="1300">
                <a:solidFill>
                  <a:srgbClr val="0D1B3E"/>
                </a:solidFill>
                <a:latin typeface="Consolas"/>
              </a:rPr>
              <a:t>frames.py</a:t>
            </a:r>
            <a:r>
              <a:rPr sz="1400">
                <a:solidFill>
                  <a:srgbClr val="1A1A2E"/>
                </a:solidFill>
                <a:latin typeface="Arial"/>
              </a:rPr>
              <a:t>, </a:t>
            </a:r>
            <a:r>
              <a:rPr sz="1300">
                <a:solidFill>
                  <a:srgbClr val="0D1B3E"/>
                </a:solidFill>
                <a:latin typeface="Consolas"/>
              </a:rPr>
              <a:t>MaskingPipeline.swift</a:t>
            </a:r>
            <a:r>
              <a:rPr sz="1400">
                <a:solidFill>
                  <a:srgbClr val="1A1A2E"/>
                </a:solidFill>
                <a:latin typeface="Arial"/>
              </a:rPr>
              <a:t>, or audit-log writers → automatic HUMAN-MERGE requirement.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C9A84C"/>
                </a:solidFill>
                <a:latin typeface="Arial"/>
              </a:rPr>
              <a:t>▸  </a:t>
            </a:r>
            <a:r>
              <a:rPr sz="1400">
                <a:solidFill>
                  <a:srgbClr val="1A1A2E"/>
                </a:solidFill>
                <a:latin typeface="Arial"/>
              </a:rPr>
              <a:t>Stage 1 &lt; 30 s and Stage 2 &lt; 5 min SLAs checked against </a:t>
            </a:r>
            <a:r>
              <a:rPr sz="1300">
                <a:solidFill>
                  <a:srgbClr val="0D1B3E"/>
                </a:solidFill>
                <a:latin typeface="Consolas"/>
              </a:rPr>
              <a:t>pilot_metrics</a:t>
            </a:r>
            <a:r>
              <a:rPr sz="1400">
                <a:solidFill>
                  <a:srgbClr val="1A1A2E"/>
                </a:solidFill>
                <a:latin typeface="Arial"/>
              </a:rPr>
              <a:t> whenever the hot path is touched.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C9A84C"/>
                </a:solidFill>
                <a:latin typeface="Arial"/>
              </a:rPr>
              <a:t>▸  </a:t>
            </a:r>
            <a:r>
              <a:rPr sz="1400">
                <a:solidFill>
                  <a:srgbClr val="1A1A2E"/>
                </a:solidFill>
                <a:latin typeface="Arial"/>
              </a:rPr>
              <a:t>Descriptive-mode enforcement is non-negotiable — </a:t>
            </a:r>
            <a:r>
              <a:rPr sz="1300">
                <a:solidFill>
                  <a:srgbClr val="0D1B3E"/>
                </a:solidFill>
                <a:latin typeface="Consolas"/>
              </a:rPr>
              <a:t>@compliance-checker</a:t>
            </a:r>
            <a:r>
              <a:rPr sz="1400">
                <a:solidFill>
                  <a:srgbClr val="1A1A2E"/>
                </a:solidFill>
                <a:latin typeface="Arial"/>
              </a:rPr>
              <a:t> blocks PR creation on interpretive/diagnostic language.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C9A84C"/>
                </a:solidFill>
                <a:latin typeface="Arial"/>
              </a:rPr>
              <a:t>▸  </a:t>
            </a:r>
            <a:r>
              <a:rPr sz="1400">
                <a:solidFill>
                  <a:srgbClr val="1A1A2E"/>
                </a:solidFill>
                <a:latin typeface="Arial"/>
              </a:rPr>
              <a:t>Fail-closed masking (P0-01) — any new upload path MUST reject on masking failure; raw-byte fallback is forbidden.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C9A84C"/>
                </a:solidFill>
                <a:latin typeface="Arial"/>
              </a:rPr>
              <a:t>▸  </a:t>
            </a:r>
            <a:r>
              <a:rPr sz="1400">
                <a:solidFill>
                  <a:srgbClr val="1A1A2E"/>
                </a:solidFill>
                <a:latin typeface="Arial"/>
              </a:rPr>
              <a:t>Audit log append-only — no UPDATE / DELETE allowed against audit rows ever.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C9A84C"/>
                </a:solidFill>
                <a:latin typeface="Arial"/>
              </a:rPr>
              <a:t>▸  </a:t>
            </a:r>
            <a:r>
              <a:rPr sz="1400">
                <a:solidFill>
                  <a:srgbClr val="1A1A2E"/>
                </a:solidFill>
                <a:latin typeface="Arial"/>
              </a:rPr>
              <a:t>Voice embedding stays in iOS Keychain — never crosses the wire.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Arial"/>
              </a:rPr>
              <a:t>AURION CLINICAL AI  ·  Autonomous Coding Workflow  ·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888888"/>
                </a:solidFill>
                <a:latin typeface="Arial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D1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What this workflow does NOT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2E5FA3"/>
                </a:solidFill>
                <a:latin typeface="Arial"/>
              </a:rPr>
              <a:t>Honest limitations to keep expectations calibrated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5800"/>
            <a:ext cx="12191695" cy="36576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C9A84C"/>
                </a:solidFill>
                <a:latin typeface="Arial"/>
              </a:rPr>
              <a:t>▸  </a:t>
            </a:r>
            <a:r>
              <a:rPr sz="1400">
                <a:solidFill>
                  <a:srgbClr val="1A1A2E"/>
                </a:solidFill>
                <a:latin typeface="Arial"/>
              </a:rPr>
              <a:t>Does NOT own product decisions — backlog ordering is human-authored.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C9A84C"/>
                </a:solidFill>
                <a:latin typeface="Arial"/>
              </a:rPr>
              <a:t>▸  </a:t>
            </a:r>
            <a:r>
              <a:rPr sz="1400">
                <a:solidFill>
                  <a:srgbClr val="1A1A2E"/>
                </a:solidFill>
                <a:latin typeface="Arial"/>
              </a:rPr>
              <a:t>Does NOT touch prod infra. Ever. By design.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C9A84C"/>
                </a:solidFill>
                <a:latin typeface="Arial"/>
              </a:rPr>
              <a:t>▸  </a:t>
            </a:r>
            <a:r>
              <a:rPr sz="1400">
                <a:solidFill>
                  <a:srgbClr val="1A1A2E"/>
                </a:solidFill>
                <a:latin typeface="Arial"/>
              </a:rPr>
              <a:t>Does NOT handle clinical validation — that's a separate program.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C9A84C"/>
                </a:solidFill>
                <a:latin typeface="Arial"/>
              </a:rPr>
              <a:t>▸  </a:t>
            </a:r>
            <a:r>
              <a:rPr sz="1400">
                <a:solidFill>
                  <a:srgbClr val="1A1A2E"/>
                </a:solidFill>
                <a:latin typeface="Arial"/>
              </a:rPr>
              <a:t>Does NOT replace code review for novel architecture — you still read the diff.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C9A84C"/>
                </a:solidFill>
                <a:latin typeface="Arial"/>
              </a:rPr>
              <a:t>▸  </a:t>
            </a:r>
            <a:r>
              <a:rPr sz="1400">
                <a:solidFill>
                  <a:srgbClr val="1A1A2E"/>
                </a:solidFill>
                <a:latin typeface="Arial"/>
              </a:rPr>
              <a:t>Does NOT catch every bug — only what tests + simplify + AC catch.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C9A84C"/>
                </a:solidFill>
                <a:latin typeface="Arial"/>
              </a:rPr>
              <a:t>▸  </a:t>
            </a:r>
            <a:r>
              <a:rPr sz="1400">
                <a:solidFill>
                  <a:srgbClr val="1A1A2E"/>
                </a:solidFill>
                <a:latin typeface="Arial"/>
              </a:rPr>
              <a:t>Does NOT survive a wedged Claude Code process — restart; state is preserved.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C9A84C"/>
                </a:solidFill>
                <a:latin typeface="Arial"/>
              </a:rPr>
              <a:t>▸  </a:t>
            </a:r>
            <a:r>
              <a:rPr sz="1400">
                <a:solidFill>
                  <a:srgbClr val="1A1A2E"/>
                </a:solidFill>
                <a:latin typeface="Arial"/>
              </a:rPr>
              <a:t>Does NOT parallelize vertical slices that span both lanes.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C9A84C"/>
                </a:solidFill>
                <a:latin typeface="Arial"/>
              </a:rPr>
              <a:t>▸  </a:t>
            </a:r>
            <a:r>
              <a:rPr sz="1400">
                <a:solidFill>
                  <a:srgbClr val="1A1A2E"/>
                </a:solidFill>
                <a:latin typeface="Arial"/>
              </a:rPr>
              <a:t>Does NOT auto-approve unknown commands — allow-list grows by observed need.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Arial"/>
              </a:rPr>
              <a:t>AURION CLINICAL AI  ·  Autonomous Coding Workflow  ·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888888"/>
                </a:solidFill>
                <a:latin typeface="Arial"/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645920"/>
            <a:ext cx="12191695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0" i="0">
                <a:solidFill>
                  <a:srgbClr val="C9A84C"/>
                </a:solidFill>
                <a:latin typeface="Arial"/>
              </a:rPr>
              <a:t>First autonomous 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194560"/>
            <a:ext cx="12191695" cy="7315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Arial"/>
              </a:rPr>
              <a:t>P0-04  ·  Alembic migrations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291840"/>
            <a:ext cx="12191695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0" i="0">
                <a:solidFill>
                  <a:srgbClr val="2E5FA3"/>
                </a:solidFill>
                <a:latin typeface="Arial"/>
              </a:rPr>
              <a:t>Backend-only · Clear AC · Well-scoped · 8 dev-days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114800"/>
            <a:ext cx="12191695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0" i="1">
                <a:solidFill>
                  <a:srgbClr val="888888"/>
                </a:solidFill>
                <a:latin typeface="Arial"/>
              </a:rPr>
              <a:t>The trust gate before we flip to two lanes.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943600"/>
            <a:ext cx="12191695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888888"/>
                </a:solidFill>
                <a:latin typeface="Arial"/>
              </a:rPr>
              <a:t>AURION CLINICAL AI  ·  aurionclinical.ai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