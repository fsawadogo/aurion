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2286000" y="-1371600"/>
            <a:ext cx="9144000" cy="9144000"/>
          </a:xfrm>
          <a:prstGeom prst="ellipse">
            <a:avLst/>
          </a:prstGeom>
          <a:solidFill>
            <a:srgbClr val="16284E">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2377440"/>
            <a:ext cx="411480" cy="41148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7315200" cy="365760"/>
          </a:xfrm>
          <a:prstGeom prst="rect">
            <a:avLst/>
          </a:prstGeom>
          <a:noFill/>
        </p:spPr>
        <p:txBody>
          <a:bodyPr wrap="none">
            <a:spAutoFit/>
          </a:bodyPr>
          <a:lstStyle/>
          <a:p>
            <a:r>
              <a:rPr sz="1300" b="1">
                <a:solidFill>
                  <a:srgbClr val="D4A64A"/>
                </a:solidFill>
              </a:rPr>
              <a:t>AURION CLINICAL AI · TEAM UPDATE</a:t>
            </a:r>
          </a:p>
        </p:txBody>
      </p:sp>
      <p:sp>
        <p:nvSpPr>
          <p:cNvPr id="6" name="TextBox 5"/>
          <p:cNvSpPr txBox="1"/>
          <p:nvPr/>
        </p:nvSpPr>
        <p:spPr>
          <a:xfrm>
            <a:off x="914400" y="2743200"/>
            <a:ext cx="10058400" cy="1463040"/>
          </a:xfrm>
          <a:prstGeom prst="rect">
            <a:avLst/>
          </a:prstGeom>
          <a:noFill/>
        </p:spPr>
        <p:txBody>
          <a:bodyPr wrap="none">
            <a:spAutoFit/>
          </a:bodyPr>
          <a:lstStyle/>
          <a:p>
            <a:r>
              <a:rPr sz="4400" b="1">
                <a:solidFill>
                  <a:srgbClr val="FFFFFF"/>
                </a:solidFill>
                <a:latin typeface="SF Pro Display"/>
              </a:rPr>
              <a:t>MVP Status: What's Built, What's Left</a:t>
            </a:r>
          </a:p>
        </p:txBody>
      </p:sp>
      <p:sp>
        <p:nvSpPr>
          <p:cNvPr id="7" name="TextBox 6"/>
          <p:cNvSpPr txBox="1"/>
          <p:nvPr/>
        </p:nvSpPr>
        <p:spPr>
          <a:xfrm>
            <a:off x="914400" y="4206240"/>
            <a:ext cx="10058400" cy="548640"/>
          </a:xfrm>
          <a:prstGeom prst="rect">
            <a:avLst/>
          </a:prstGeom>
          <a:noFill/>
        </p:spPr>
        <p:txBody>
          <a:bodyPr wrap="none">
            <a:spAutoFit/>
          </a:bodyPr>
          <a:lstStyle/>
          <a:p>
            <a:r>
              <a:rPr sz="2000">
                <a:solidFill>
                  <a:srgbClr val="B8C2D8"/>
                </a:solidFill>
              </a:rPr>
              <a:t>CREOQ / CLLC Pilot · 3–5 Clinicians · May 2026</a:t>
            </a:r>
          </a:p>
        </p:txBody>
      </p:sp>
      <p:sp>
        <p:nvSpPr>
          <p:cNvPr id="8" name="TextBox 7"/>
          <p:cNvSpPr txBox="1"/>
          <p:nvPr/>
        </p:nvSpPr>
        <p:spPr>
          <a:xfrm>
            <a:off x="914400" y="5943600"/>
            <a:ext cx="10058400" cy="365760"/>
          </a:xfrm>
          <a:prstGeom prst="rect">
            <a:avLst/>
          </a:prstGeom>
          <a:noFill/>
        </p:spPr>
        <p:txBody>
          <a:bodyPr wrap="none">
            <a:spAutoFit/>
          </a:bodyPr>
          <a:lstStyle/>
          <a:p>
            <a:r>
              <a:rPr sz="1300">
                <a:solidFill>
                  <a:srgbClr val="D4A64A"/>
                </a:solidFill>
              </a:rPr>
              <a:t>Faïçal Sawadogo · Co-Founder &amp; CTO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MVP DEFINITION</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What We Set Out to Build</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908792" cy="3200400"/>
          </a:xfrm>
          <a:prstGeom prst="rect">
            <a:avLst/>
          </a:prstGeom>
          <a:noFill/>
        </p:spPr>
        <p:txBody>
          <a:bodyPr wrap="square">
            <a:spAutoFit/>
          </a:bodyPr>
          <a:lstStyle/>
          <a:p>
            <a:r>
              <a:rPr sz="2000">
                <a:solidFill>
                  <a:srgbClr val="FFFFFF"/>
                </a:solidFill>
                <a:latin typeface="SF Pro Display"/>
              </a:rPr>
              <a:t>A physician puts on smart glasses, presses record, and delivers care as normal. Aurion captures everything — what is said, what is seen, and what appears on screen — and generates a structured, citation-anchored SOAP clinical note.</a:t>
            </a:r>
          </a:p>
          <a:p>
            <a:pPr>
              <a:spcBef>
                <a:spcPts val="1400"/>
              </a:spcBef>
            </a:pPr>
            <a:r>
              <a:rPr sz="1800">
                <a:solidFill>
                  <a:srgbClr val="B8C2D8"/>
                </a:solidFill>
                <a:latin typeface="SF Pro Display"/>
              </a:rPr>
              <a:t>The physician reviews the draft between patients, resolves any conflicts between what was said and what was observed, approves the note, and exports it to their EMR. Raw recordings are deleted immediately. Nothing diagnostic is ever generated — only what was directly observed and heard.</a:t>
            </a:r>
          </a:p>
        </p:txBody>
      </p:sp>
      <p:sp>
        <p:nvSpPr>
          <p:cNvPr id="8" name="Rounded Rectangle 7"/>
          <p:cNvSpPr/>
          <p:nvPr/>
        </p:nvSpPr>
        <p:spPr>
          <a:xfrm>
            <a:off x="640080" y="5577840"/>
            <a:ext cx="10908792" cy="914400"/>
          </a:xfrm>
          <a:prstGeom prst="roundRect">
            <a:avLst>
              <a:gd name="adj" fmla="val 20000"/>
            </a:avLst>
          </a:prstGeom>
          <a:solidFill>
            <a:srgbClr val="16284E"/>
          </a:solidFill>
          <a:ln>
            <a:noFill/>
          </a:ln>
        </p:spPr>
        <p:style>
          <a:lnRef idx="1">
            <a:schemeClr val="accent1"/>
          </a:lnRef>
          <a:fillRef idx="3">
            <a:schemeClr val="accent1"/>
          </a:fillRef>
          <a:effectRef idx="2">
            <a:schemeClr val="accent1"/>
          </a:effectRef>
          <a:fontRef idx="minor">
            <a:schemeClr val="lt1"/>
          </a:fontRef>
        </p:style>
        <p:txBody>
          <a:bodyPr rtlCol="0" anchor="ctr" lIns="274320" rIns="274320" tIns="137160"/>
          <a:lstStyle/>
          <a:p>
            <a:pPr algn="ctr"/>
            <a:r>
              <a:rPr sz="1400" b="1">
                <a:solidFill>
                  <a:srgbClr val="D4A64A"/>
                </a:solidFill>
              </a:rPr>
              <a:t>⚠  Strict Descriptive Mode  —  </a:t>
            </a:r>
            <a:r>
              <a:rPr sz="1300">
                <a:solidFill>
                  <a:srgbClr val="FFFFFF"/>
                </a:solidFill>
              </a:rPr>
              <a:t>Aurion reports what was observed. Never interprets, never diagnoses, never suggests treatment. This is a product, legal, and regulatory boundary — every AI call enforces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THE 22 IN-SCOPE FEATURES</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MVP Scope at a Glance</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63040"/>
            <a:ext cx="2577007" cy="4206240"/>
          </a:xfrm>
          <a:prstGeom prst="roundRect">
            <a:avLst>
              <a:gd name="adj" fmla="val 6000"/>
            </a:avLst>
          </a:prstGeom>
          <a:solidFill>
            <a:srgbClr val="162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45920"/>
            <a:ext cx="2119807" cy="457200"/>
          </a:xfrm>
          <a:prstGeom prst="rect">
            <a:avLst/>
          </a:prstGeom>
          <a:noFill/>
        </p:spPr>
        <p:txBody>
          <a:bodyPr wrap="none">
            <a:spAutoFit/>
          </a:bodyPr>
          <a:lstStyle/>
          <a:p>
            <a:r>
              <a:rPr sz="1200" b="1">
                <a:solidFill>
                  <a:srgbClr val="D4A64A"/>
                </a:solidFill>
                <a:latin typeface="SF Pro Display"/>
              </a:rPr>
              <a:t>CAPTURE &amp; PIPELINE</a:t>
            </a:r>
          </a:p>
        </p:txBody>
      </p:sp>
      <p:sp>
        <p:nvSpPr>
          <p:cNvPr id="9" name="TextBox 8"/>
          <p:cNvSpPr txBox="1"/>
          <p:nvPr/>
        </p:nvSpPr>
        <p:spPr>
          <a:xfrm>
            <a:off x="868680" y="2148840"/>
            <a:ext cx="2119807" cy="3291840"/>
          </a:xfrm>
          <a:prstGeom prst="rect">
            <a:avLst/>
          </a:prstGeom>
          <a:noFill/>
        </p:spPr>
        <p:txBody>
          <a:bodyPr wrap="square" lIns="0" rIns="0" tIns="0" bIns="0">
            <a:spAutoFit/>
          </a:bodyPr>
          <a:lstStyle/>
          <a:p>
            <a:pPr>
              <a:spcAft>
                <a:spcPts val="600"/>
              </a:spcAft>
            </a:pPr>
            <a:r>
              <a:rPr sz="1300">
                <a:solidFill>
                  <a:srgbClr val="FFFFFF"/>
                </a:solidFill>
                <a:latin typeface="SF Pro Display"/>
              </a:rPr>
              <a:t>Continuous A/V + screen capture</a:t>
            </a:r>
          </a:p>
          <a:p>
            <a:pPr>
              <a:spcAft>
                <a:spcPts val="600"/>
              </a:spcAft>
            </a:pPr>
            <a:r>
              <a:rPr sz="1300">
                <a:solidFill>
                  <a:srgbClr val="FFFFFF"/>
                </a:solidFill>
                <a:latin typeface="SF Pro Display"/>
              </a:rPr>
              <a:t>Audio transcription (Whisper)</a:t>
            </a:r>
          </a:p>
          <a:p>
            <a:pPr>
              <a:spcAft>
                <a:spcPts val="600"/>
              </a:spcAft>
            </a:pPr>
            <a:r>
              <a:rPr sz="1300">
                <a:solidFill>
                  <a:srgbClr val="FFFFFF"/>
                </a:solidFill>
                <a:latin typeface="SF Pro Display"/>
              </a:rPr>
              <a:t>Trigger classifier</a:t>
            </a:r>
          </a:p>
          <a:p>
            <a:pPr>
              <a:spcAft>
                <a:spcPts val="600"/>
              </a:spcAft>
            </a:pPr>
            <a:r>
              <a:rPr sz="1300">
                <a:solidFill>
                  <a:srgbClr val="FFFFFF"/>
                </a:solidFill>
                <a:latin typeface="SF Pro Display"/>
              </a:rPr>
              <a:t>PHI masking pipeline</a:t>
            </a:r>
          </a:p>
          <a:p>
            <a:pPr>
              <a:spcAft>
                <a:spcPts val="600"/>
              </a:spcAft>
            </a:pPr>
            <a:r>
              <a:rPr sz="1300">
                <a:solidFill>
                  <a:srgbClr val="FFFFFF"/>
                </a:solidFill>
                <a:latin typeface="SF Pro Display"/>
              </a:rPr>
              <a:t>Voice enrollment</a:t>
            </a:r>
          </a:p>
          <a:p>
            <a:pPr>
              <a:spcAft>
                <a:spcPts val="600"/>
              </a:spcAft>
            </a:pPr>
            <a:r>
              <a:rPr sz="1300">
                <a:solidFill>
                  <a:srgbClr val="FFFFFF"/>
                </a:solidFill>
                <a:latin typeface="SF Pro Display"/>
              </a:rPr>
              <a:t>Raw data purge</a:t>
            </a:r>
          </a:p>
        </p:txBody>
      </p:sp>
      <p:sp>
        <p:nvSpPr>
          <p:cNvPr id="10" name="Rounded Rectangle 9"/>
          <p:cNvSpPr/>
          <p:nvPr/>
        </p:nvSpPr>
        <p:spPr>
          <a:xfrm>
            <a:off x="3418255" y="1463040"/>
            <a:ext cx="2577007" cy="4206240"/>
          </a:xfrm>
          <a:prstGeom prst="roundRect">
            <a:avLst>
              <a:gd name="adj" fmla="val 6000"/>
            </a:avLst>
          </a:prstGeom>
          <a:solidFill>
            <a:srgbClr val="162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46855" y="1645920"/>
            <a:ext cx="2119807" cy="457200"/>
          </a:xfrm>
          <a:prstGeom prst="rect">
            <a:avLst/>
          </a:prstGeom>
          <a:noFill/>
        </p:spPr>
        <p:txBody>
          <a:bodyPr wrap="none">
            <a:spAutoFit/>
          </a:bodyPr>
          <a:lstStyle/>
          <a:p>
            <a:r>
              <a:rPr sz="1200" b="1">
                <a:solidFill>
                  <a:srgbClr val="D4A64A"/>
                </a:solidFill>
                <a:latin typeface="SF Pro Display"/>
              </a:rPr>
              <a:t>NOTE GENERATION</a:t>
            </a:r>
          </a:p>
        </p:txBody>
      </p:sp>
      <p:sp>
        <p:nvSpPr>
          <p:cNvPr id="12" name="TextBox 11"/>
          <p:cNvSpPr txBox="1"/>
          <p:nvPr/>
        </p:nvSpPr>
        <p:spPr>
          <a:xfrm>
            <a:off x="3646855" y="2148840"/>
            <a:ext cx="2119807" cy="3291840"/>
          </a:xfrm>
          <a:prstGeom prst="rect">
            <a:avLst/>
          </a:prstGeom>
          <a:noFill/>
        </p:spPr>
        <p:txBody>
          <a:bodyPr wrap="square" lIns="0" rIns="0" tIns="0" bIns="0">
            <a:spAutoFit/>
          </a:bodyPr>
          <a:lstStyle/>
          <a:p>
            <a:pPr>
              <a:spcAft>
                <a:spcPts val="600"/>
              </a:spcAft>
            </a:pPr>
            <a:r>
              <a:rPr sz="1300">
                <a:solidFill>
                  <a:srgbClr val="FFFFFF"/>
                </a:solidFill>
                <a:latin typeface="SF Pro Display"/>
              </a:rPr>
              <a:t>Stage 1 — audio draft (&lt;30s)</a:t>
            </a:r>
          </a:p>
          <a:p>
            <a:pPr>
              <a:spcAft>
                <a:spcPts val="600"/>
              </a:spcAft>
            </a:pPr>
            <a:r>
              <a:rPr sz="1300">
                <a:solidFill>
                  <a:srgbClr val="FFFFFF"/>
                </a:solidFill>
                <a:latin typeface="SF Pro Display"/>
              </a:rPr>
              <a:t>Stage 2 — visual enrichment</a:t>
            </a:r>
          </a:p>
          <a:p>
            <a:pPr>
              <a:spcAft>
                <a:spcPts val="600"/>
              </a:spcAft>
            </a:pPr>
            <a:r>
              <a:rPr sz="1300">
                <a:solidFill>
                  <a:srgbClr val="FFFFFF"/>
                </a:solidFill>
                <a:latin typeface="SF Pro Display"/>
              </a:rPr>
              <a:t>5 specialty templates</a:t>
            </a:r>
          </a:p>
          <a:p>
            <a:pPr>
              <a:spcAft>
                <a:spcPts val="600"/>
              </a:spcAft>
            </a:pPr>
            <a:r>
              <a:rPr sz="1300">
                <a:solidFill>
                  <a:srgbClr val="FFFFFF"/>
                </a:solidFill>
                <a:latin typeface="SF Pro Display"/>
              </a:rPr>
              <a:t>Citation anchors</a:t>
            </a:r>
          </a:p>
          <a:p>
            <a:pPr>
              <a:spcAft>
                <a:spcPts val="600"/>
              </a:spcAft>
            </a:pPr>
            <a:r>
              <a:rPr sz="1300">
                <a:solidFill>
                  <a:srgbClr val="FFFFFF"/>
                </a:solidFill>
                <a:latin typeface="SF Pro Display"/>
              </a:rPr>
              <a:t>ENRICHES/REPEATS/CONFLICTS</a:t>
            </a:r>
          </a:p>
          <a:p>
            <a:pPr>
              <a:spcAft>
                <a:spcPts val="600"/>
              </a:spcAft>
            </a:pPr>
            <a:r>
              <a:rPr sz="1300">
                <a:solidFill>
                  <a:srgbClr val="FFFFFF"/>
                </a:solidFill>
                <a:latin typeface="SF Pro Display"/>
              </a:rPr>
              <a:t>Note versioning</a:t>
            </a:r>
          </a:p>
        </p:txBody>
      </p:sp>
      <p:sp>
        <p:nvSpPr>
          <p:cNvPr id="13" name="Rounded Rectangle 12"/>
          <p:cNvSpPr/>
          <p:nvPr/>
        </p:nvSpPr>
        <p:spPr>
          <a:xfrm>
            <a:off x="6196430" y="1463040"/>
            <a:ext cx="2577007" cy="4206240"/>
          </a:xfrm>
          <a:prstGeom prst="roundRect">
            <a:avLst>
              <a:gd name="adj" fmla="val 6000"/>
            </a:avLst>
          </a:prstGeom>
          <a:solidFill>
            <a:srgbClr val="162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5030" y="1645920"/>
            <a:ext cx="2119807" cy="457200"/>
          </a:xfrm>
          <a:prstGeom prst="rect">
            <a:avLst/>
          </a:prstGeom>
          <a:noFill/>
        </p:spPr>
        <p:txBody>
          <a:bodyPr wrap="none">
            <a:spAutoFit/>
          </a:bodyPr>
          <a:lstStyle/>
          <a:p>
            <a:r>
              <a:rPr sz="1200" b="1">
                <a:solidFill>
                  <a:srgbClr val="D4A64A"/>
                </a:solidFill>
                <a:latin typeface="SF Pro Display"/>
              </a:rPr>
              <a:t>CLINICAL UX</a:t>
            </a:r>
          </a:p>
        </p:txBody>
      </p:sp>
      <p:sp>
        <p:nvSpPr>
          <p:cNvPr id="15" name="TextBox 14"/>
          <p:cNvSpPr txBox="1"/>
          <p:nvPr/>
        </p:nvSpPr>
        <p:spPr>
          <a:xfrm>
            <a:off x="6425030" y="2148840"/>
            <a:ext cx="2119807" cy="3291840"/>
          </a:xfrm>
          <a:prstGeom prst="rect">
            <a:avLst/>
          </a:prstGeom>
          <a:noFill/>
        </p:spPr>
        <p:txBody>
          <a:bodyPr wrap="square" lIns="0" rIns="0" tIns="0" bIns="0">
            <a:spAutoFit/>
          </a:bodyPr>
          <a:lstStyle/>
          <a:p>
            <a:pPr>
              <a:spcAft>
                <a:spcPts val="600"/>
              </a:spcAft>
            </a:pPr>
            <a:r>
              <a:rPr sz="1300">
                <a:solidFill>
                  <a:srgbClr val="FFFFFF"/>
                </a:solidFill>
                <a:latin typeface="SF Pro Display"/>
              </a:rPr>
              <a:t>Patient consent hard block</a:t>
            </a:r>
          </a:p>
          <a:p>
            <a:pPr>
              <a:spcAft>
                <a:spcPts val="600"/>
              </a:spcAft>
            </a:pPr>
            <a:r>
              <a:rPr sz="1300">
                <a:solidFill>
                  <a:srgbClr val="FFFFFF"/>
                </a:solidFill>
                <a:latin typeface="SF Pro Display"/>
              </a:rPr>
              <a:t>Pause / resume sessions</a:t>
            </a:r>
          </a:p>
          <a:p>
            <a:pPr>
              <a:spcAft>
                <a:spcPts val="600"/>
              </a:spcAft>
            </a:pPr>
            <a:r>
              <a:rPr sz="1300">
                <a:solidFill>
                  <a:srgbClr val="FFFFFF"/>
                </a:solidFill>
                <a:latin typeface="SF Pro Display"/>
              </a:rPr>
              <a:t>Conflict resolution UI</a:t>
            </a:r>
          </a:p>
          <a:p>
            <a:pPr>
              <a:spcAft>
                <a:spcPts val="600"/>
              </a:spcAft>
            </a:pPr>
            <a:r>
              <a:rPr sz="1300">
                <a:solidFill>
                  <a:srgbClr val="FFFFFF"/>
                </a:solidFill>
                <a:latin typeface="SF Pro Display"/>
              </a:rPr>
              <a:t>Review &amp; approval flow</a:t>
            </a:r>
          </a:p>
          <a:p>
            <a:pPr>
              <a:spcAft>
                <a:spcPts val="600"/>
              </a:spcAft>
            </a:pPr>
            <a:r>
              <a:rPr sz="1300">
                <a:solidFill>
                  <a:srgbClr val="FFFFFF"/>
                </a:solidFill>
                <a:latin typeface="SF Pro Display"/>
              </a:rPr>
              <a:t>DOCX / text export</a:t>
            </a:r>
          </a:p>
          <a:p>
            <a:pPr>
              <a:spcAft>
                <a:spcPts val="600"/>
              </a:spcAft>
            </a:pPr>
            <a:r>
              <a:rPr sz="1300">
                <a:solidFill>
                  <a:srgbClr val="FFFFFF"/>
                </a:solidFill>
                <a:latin typeface="SF Pro Display"/>
              </a:rPr>
              <a:t>Universal iPhone + iPad</a:t>
            </a:r>
          </a:p>
        </p:txBody>
      </p:sp>
      <p:sp>
        <p:nvSpPr>
          <p:cNvPr id="16" name="Rounded Rectangle 15"/>
          <p:cNvSpPr/>
          <p:nvPr/>
        </p:nvSpPr>
        <p:spPr>
          <a:xfrm>
            <a:off x="8974605" y="1463040"/>
            <a:ext cx="2577007" cy="4206240"/>
          </a:xfrm>
          <a:prstGeom prst="roundRect">
            <a:avLst>
              <a:gd name="adj" fmla="val 6000"/>
            </a:avLst>
          </a:prstGeom>
          <a:solidFill>
            <a:srgbClr val="1628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03205" y="1645920"/>
            <a:ext cx="2119807" cy="457200"/>
          </a:xfrm>
          <a:prstGeom prst="rect">
            <a:avLst/>
          </a:prstGeom>
          <a:noFill/>
        </p:spPr>
        <p:txBody>
          <a:bodyPr wrap="none">
            <a:spAutoFit/>
          </a:bodyPr>
          <a:lstStyle/>
          <a:p>
            <a:r>
              <a:rPr sz="1200" b="1">
                <a:solidFill>
                  <a:srgbClr val="D4A64A"/>
                </a:solidFill>
                <a:latin typeface="SF Pro Display"/>
              </a:rPr>
              <a:t>PLATFORM &amp; OPS</a:t>
            </a:r>
          </a:p>
        </p:txBody>
      </p:sp>
      <p:sp>
        <p:nvSpPr>
          <p:cNvPr id="18" name="TextBox 17"/>
          <p:cNvSpPr txBox="1"/>
          <p:nvPr/>
        </p:nvSpPr>
        <p:spPr>
          <a:xfrm>
            <a:off x="9203205" y="2148840"/>
            <a:ext cx="2119807" cy="3291840"/>
          </a:xfrm>
          <a:prstGeom prst="rect">
            <a:avLst/>
          </a:prstGeom>
          <a:noFill/>
        </p:spPr>
        <p:txBody>
          <a:bodyPr wrap="square" lIns="0" rIns="0" tIns="0" bIns="0">
            <a:spAutoFit/>
          </a:bodyPr>
          <a:lstStyle/>
          <a:p>
            <a:pPr>
              <a:spcAft>
                <a:spcPts val="600"/>
              </a:spcAft>
            </a:pPr>
            <a:r>
              <a:rPr sz="1300">
                <a:solidFill>
                  <a:srgbClr val="FFFFFF"/>
                </a:solidFill>
                <a:latin typeface="SF Pro Display"/>
              </a:rPr>
              <a:t>Provider switching (AppConfig)</a:t>
            </a:r>
          </a:p>
          <a:p>
            <a:pPr>
              <a:spcAft>
                <a:spcPts val="600"/>
              </a:spcAft>
            </a:pPr>
            <a:r>
              <a:rPr sz="1300">
                <a:solidFill>
                  <a:srgbClr val="FFFFFF"/>
                </a:solidFill>
                <a:latin typeface="SF Pro Display"/>
              </a:rPr>
              <a:t>Immutable audit trail</a:t>
            </a:r>
          </a:p>
          <a:p>
            <a:pPr>
              <a:spcAft>
                <a:spcPts val="600"/>
              </a:spcAft>
            </a:pPr>
            <a:r>
              <a:rPr sz="1300">
                <a:solidFill>
                  <a:srgbClr val="FFFFFF"/>
                </a:solidFill>
                <a:latin typeface="SF Pro Display"/>
              </a:rPr>
              <a:t>Pilot metrics (8 measures)</a:t>
            </a:r>
          </a:p>
          <a:p>
            <a:pPr>
              <a:spcAft>
                <a:spcPts val="600"/>
              </a:spcAft>
            </a:pPr>
            <a:r>
              <a:rPr sz="1300">
                <a:solidFill>
                  <a:srgbClr val="FFFFFF"/>
                </a:solidFill>
                <a:latin typeface="SF Pro Display"/>
              </a:rPr>
              <a:t>Web admin portal</a:t>
            </a:r>
          </a:p>
        </p:txBody>
      </p:sp>
      <p:sp>
        <p:nvSpPr>
          <p:cNvPr id="19" name="TextBox 18"/>
          <p:cNvSpPr txBox="1"/>
          <p:nvPr/>
        </p:nvSpPr>
        <p:spPr>
          <a:xfrm>
            <a:off x="640080" y="6035040"/>
            <a:ext cx="10908792" cy="365760"/>
          </a:xfrm>
          <a:prstGeom prst="rect">
            <a:avLst/>
          </a:prstGeom>
          <a:noFill/>
        </p:spPr>
        <p:txBody>
          <a:bodyPr wrap="none">
            <a:spAutoFit/>
          </a:bodyPr>
          <a:lstStyle/>
          <a:p>
            <a:r>
              <a:rPr sz="1200" i="1">
                <a:solidFill>
                  <a:srgbClr val="B8C2D8"/>
                </a:solidFill>
              </a:rPr>
              <a:t>Plus: Phase 0 provider infra · Phase 1 backend foundation · Phase 8 infrastructure-as-code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STATUS SNAPSHOT</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Where We Are Today</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371600"/>
            <a:ext cx="3593592" cy="3474720"/>
          </a:xfrm>
          <a:prstGeom prst="roundRect">
            <a:avLst>
              <a:gd name="adj" fmla="val 8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600200"/>
            <a:ext cx="1005840" cy="292608"/>
          </a:xfrm>
          <a:prstGeom prst="roundRect">
            <a:avLst>
              <a:gd name="adj" fmla="val 50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F Pro Display"/>
              </a:rPr>
              <a:t>DONE</a:t>
            </a:r>
          </a:p>
        </p:txBody>
      </p:sp>
      <p:sp>
        <p:nvSpPr>
          <p:cNvPr id="9" name="TextBox 8"/>
          <p:cNvSpPr txBox="1"/>
          <p:nvPr/>
        </p:nvSpPr>
        <p:spPr>
          <a:xfrm>
            <a:off x="868680" y="2057400"/>
            <a:ext cx="3136392" cy="1097280"/>
          </a:xfrm>
          <a:prstGeom prst="rect">
            <a:avLst/>
          </a:prstGeom>
          <a:noFill/>
        </p:spPr>
        <p:txBody>
          <a:bodyPr wrap="none" lIns="0" rIns="0">
            <a:spAutoFit/>
          </a:bodyPr>
          <a:lstStyle/>
          <a:p>
            <a:r>
              <a:rPr sz="6400" b="1">
                <a:solidFill>
                  <a:srgbClr val="FFFFFF"/>
                </a:solidFill>
                <a:latin typeface="SF Pro Display"/>
              </a:rPr>
              <a:t>16 / 20</a:t>
            </a:r>
          </a:p>
        </p:txBody>
      </p:sp>
      <p:sp>
        <p:nvSpPr>
          <p:cNvPr id="10" name="TextBox 9"/>
          <p:cNvSpPr txBox="1"/>
          <p:nvPr/>
        </p:nvSpPr>
        <p:spPr>
          <a:xfrm>
            <a:off x="868680" y="3200400"/>
            <a:ext cx="3136392" cy="1463040"/>
          </a:xfrm>
          <a:prstGeom prst="rect">
            <a:avLst/>
          </a:prstGeom>
          <a:noFill/>
        </p:spPr>
        <p:txBody>
          <a:bodyPr wrap="square" lIns="0" rIns="0">
            <a:spAutoFit/>
          </a:bodyPr>
          <a:lstStyle/>
          <a:p>
            <a:r>
              <a:rPr sz="1300">
                <a:solidFill>
                  <a:srgbClr val="081226"/>
                </a:solidFill>
                <a:latin typeface="SF Pro Display"/>
              </a:rPr>
              <a:t>In-scope features fully implemented in the current codebase. Stage 1, Stage 2, citations, conflicts, consent gate, audit log, web portal — all live.</a:t>
            </a:r>
          </a:p>
        </p:txBody>
      </p:sp>
      <p:sp>
        <p:nvSpPr>
          <p:cNvPr id="11" name="Rounded Rectangle 10"/>
          <p:cNvSpPr/>
          <p:nvPr/>
        </p:nvSpPr>
        <p:spPr>
          <a:xfrm>
            <a:off x="4480560" y="1371600"/>
            <a:ext cx="3593592" cy="3474720"/>
          </a:xfrm>
          <a:prstGeom prst="roundRect">
            <a:avLst>
              <a:gd name="adj" fmla="val 8000"/>
            </a:avLst>
          </a:prstGeom>
          <a:solidFill>
            <a:srgbClr val="FFF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09160" y="1600200"/>
            <a:ext cx="1005840" cy="292608"/>
          </a:xfrm>
          <a:prstGeom prst="roundRect">
            <a:avLst>
              <a:gd name="adj" fmla="val 50000"/>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F Pro Display"/>
              </a:rPr>
              <a:t>PARTIAL</a:t>
            </a:r>
          </a:p>
        </p:txBody>
      </p:sp>
      <p:sp>
        <p:nvSpPr>
          <p:cNvPr id="13" name="TextBox 12"/>
          <p:cNvSpPr txBox="1"/>
          <p:nvPr/>
        </p:nvSpPr>
        <p:spPr>
          <a:xfrm>
            <a:off x="4709160" y="2057400"/>
            <a:ext cx="3136392" cy="1097280"/>
          </a:xfrm>
          <a:prstGeom prst="rect">
            <a:avLst/>
          </a:prstGeom>
          <a:noFill/>
        </p:spPr>
        <p:txBody>
          <a:bodyPr wrap="none" lIns="0" rIns="0">
            <a:spAutoFit/>
          </a:bodyPr>
          <a:lstStyle/>
          <a:p>
            <a:r>
              <a:rPr sz="6400" b="1">
                <a:solidFill>
                  <a:srgbClr val="FFFFFF"/>
                </a:solidFill>
                <a:latin typeface="SF Pro Display"/>
              </a:rPr>
              <a:t>4 / 20</a:t>
            </a:r>
          </a:p>
        </p:txBody>
      </p:sp>
      <p:sp>
        <p:nvSpPr>
          <p:cNvPr id="14" name="TextBox 13"/>
          <p:cNvSpPr txBox="1"/>
          <p:nvPr/>
        </p:nvSpPr>
        <p:spPr>
          <a:xfrm>
            <a:off x="4709160" y="3200400"/>
            <a:ext cx="3136392" cy="1463040"/>
          </a:xfrm>
          <a:prstGeom prst="rect">
            <a:avLst/>
          </a:prstGeom>
          <a:noFill/>
        </p:spPr>
        <p:txBody>
          <a:bodyPr wrap="square" lIns="0" rIns="0">
            <a:spAutoFit/>
          </a:bodyPr>
          <a:lstStyle/>
          <a:p>
            <a:r>
              <a:rPr sz="1300">
                <a:solidFill>
                  <a:srgbClr val="081226"/>
                </a:solidFill>
                <a:latin typeface="SF Pro Display"/>
              </a:rPr>
              <a:t>Voice enrollment, on-device PHI masking, raw data purge, and iPad-specific layout are scaffolded but need final integration / production wiring.</a:t>
            </a:r>
          </a:p>
        </p:txBody>
      </p:sp>
      <p:sp>
        <p:nvSpPr>
          <p:cNvPr id="15" name="Rounded Rectangle 14"/>
          <p:cNvSpPr/>
          <p:nvPr/>
        </p:nvSpPr>
        <p:spPr>
          <a:xfrm>
            <a:off x="8321040" y="1371600"/>
            <a:ext cx="3593592" cy="3474720"/>
          </a:xfrm>
          <a:prstGeom prst="roundRect">
            <a:avLst>
              <a:gd name="adj" fmla="val 8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49640" y="1600200"/>
            <a:ext cx="1005840" cy="292608"/>
          </a:xfrm>
          <a:prstGeom prst="roundRect">
            <a:avLst>
              <a:gd name="adj" fmla="val 50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F Pro Display"/>
              </a:rPr>
              <a:t>PHASES</a:t>
            </a:r>
          </a:p>
        </p:txBody>
      </p:sp>
      <p:sp>
        <p:nvSpPr>
          <p:cNvPr id="17" name="TextBox 16"/>
          <p:cNvSpPr txBox="1"/>
          <p:nvPr/>
        </p:nvSpPr>
        <p:spPr>
          <a:xfrm>
            <a:off x="8549640" y="2057400"/>
            <a:ext cx="3136392" cy="1097280"/>
          </a:xfrm>
          <a:prstGeom prst="rect">
            <a:avLst/>
          </a:prstGeom>
          <a:noFill/>
        </p:spPr>
        <p:txBody>
          <a:bodyPr wrap="none" lIns="0" rIns="0">
            <a:spAutoFit/>
          </a:bodyPr>
          <a:lstStyle/>
          <a:p>
            <a:r>
              <a:rPr sz="6400" b="1">
                <a:solidFill>
                  <a:srgbClr val="FFFFFF"/>
                </a:solidFill>
                <a:latin typeface="SF Pro Display"/>
              </a:rPr>
              <a:t>9 / 10</a:t>
            </a:r>
          </a:p>
        </p:txBody>
      </p:sp>
      <p:sp>
        <p:nvSpPr>
          <p:cNvPr id="18" name="TextBox 17"/>
          <p:cNvSpPr txBox="1"/>
          <p:nvPr/>
        </p:nvSpPr>
        <p:spPr>
          <a:xfrm>
            <a:off x="8549640" y="3200400"/>
            <a:ext cx="3136392" cy="1463040"/>
          </a:xfrm>
          <a:prstGeom prst="rect">
            <a:avLst/>
          </a:prstGeom>
          <a:noFill/>
        </p:spPr>
        <p:txBody>
          <a:bodyPr wrap="square" lIns="0" rIns="0">
            <a:spAutoFit/>
          </a:bodyPr>
          <a:lstStyle/>
          <a:p>
            <a:r>
              <a:rPr sz="1300">
                <a:solidFill>
                  <a:srgbClr val="081226"/>
                </a:solidFill>
                <a:latin typeface="SF Pro Display"/>
              </a:rPr>
              <a:t>Phases 0–7 and 9 shipped. Phase 8 (Terraform IaC) is written but not yet applied to production AWS — blocked on BAA legal sign-off.</a:t>
            </a:r>
          </a:p>
        </p:txBody>
      </p:sp>
      <p:sp>
        <p:nvSpPr>
          <p:cNvPr id="19" name="TextBox 18"/>
          <p:cNvSpPr txBox="1"/>
          <p:nvPr/>
        </p:nvSpPr>
        <p:spPr>
          <a:xfrm>
            <a:off x="640080" y="5212080"/>
            <a:ext cx="10908792" cy="1280160"/>
          </a:xfrm>
          <a:prstGeom prst="rect">
            <a:avLst/>
          </a:prstGeom>
          <a:noFill/>
        </p:spPr>
        <p:txBody>
          <a:bodyPr wrap="square">
            <a:spAutoFit/>
          </a:bodyPr>
          <a:lstStyle/>
          <a:p>
            <a:r>
              <a:rPr sz="1500">
                <a:solidFill>
                  <a:srgbClr val="B8C2D8"/>
                </a:solidFill>
                <a:latin typeface="SF Pro Display"/>
              </a:rPr>
              <a:t>The recordable demo is end-to-end: </a:t>
            </a:r>
            <a:r>
              <a:rPr sz="1500" b="1">
                <a:solidFill>
                  <a:srgbClr val="FFFFFF"/>
                </a:solidFill>
                <a:latin typeface="SF Pro Display"/>
              </a:rPr>
              <a:t>consent → record → live transcript → Stage 1 draft → imaging review filled → Approve &amp; Sign → audit + export.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WHAT'S DONE · 1 / 3</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Capture &amp; Pipeline</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0" y="1143000"/>
            <a:ext cx="1463040" cy="365760"/>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E7D32"/>
                </a:solidFill>
              </a:rPr>
              <a:t>✓  DONE</a:t>
            </a:r>
          </a:p>
        </p:txBody>
      </p:sp>
      <p:sp>
        <p:nvSpPr>
          <p:cNvPr id="8" name="TextBox 7"/>
          <p:cNvSpPr txBox="1"/>
          <p:nvPr/>
        </p:nvSpPr>
        <p:spPr>
          <a:xfrm>
            <a:off x="640080" y="1645920"/>
            <a:ext cx="10908792" cy="5029200"/>
          </a:xfrm>
          <a:prstGeom prst="rect">
            <a:avLst/>
          </a:prstGeom>
          <a:noFill/>
        </p:spPr>
        <p:txBody>
          <a:bodyPr wrap="square" lIns="0" rIns="0" tIns="0" bIns="0">
            <a:spAutoFit/>
          </a:bodyPr>
          <a:lstStyle/>
          <a:p>
            <a:pPr>
              <a:spcAft>
                <a:spcPts val="600"/>
              </a:spcAft>
            </a:pPr>
            <a:r>
              <a:rPr sz="1600" b="1">
                <a:solidFill>
                  <a:srgbClr val="D4A64A"/>
                </a:solidFill>
              </a:rPr>
              <a:t>●  </a:t>
            </a:r>
            <a:r>
              <a:rPr sz="1600" b="1">
                <a:solidFill>
                  <a:srgbClr val="FFFFFF"/>
                </a:solidFill>
                <a:latin typeface="SF Pro Display"/>
              </a:rPr>
              <a:t>Continuous A/V + screen capture</a:t>
            </a:r>
          </a:p>
          <a:p>
            <a:pPr>
              <a:spcAft>
                <a:spcPts val="1000"/>
              </a:spcAft>
            </a:pPr>
            <a:r>
              <a:rPr sz="1200"/>
              <a:t>    </a:t>
            </a:r>
            <a:r>
              <a:rPr sz="1200">
                <a:solidFill>
                  <a:srgbClr val="B8C2D8"/>
                </a:solidFill>
                <a:latin typeface="SF Pro Display"/>
              </a:rPr>
              <a:t>Single-tap launches audio + camera + frame pipeline. AVFoundation 3-stream capture on iPhone.</a:t>
            </a:r>
          </a:p>
          <a:p>
            <a:pPr>
              <a:spcAft>
                <a:spcPts val="600"/>
              </a:spcAft>
            </a:pPr>
            <a:r>
              <a:rPr sz="1600" b="1">
                <a:solidFill>
                  <a:srgbClr val="D4A64A"/>
                </a:solidFill>
              </a:rPr>
              <a:t>●  </a:t>
            </a:r>
            <a:r>
              <a:rPr sz="1600" b="1">
                <a:solidFill>
                  <a:srgbClr val="FFFFFF"/>
                </a:solidFill>
                <a:latin typeface="SF Pro Display"/>
              </a:rPr>
              <a:t>Audio transcription (Whisper)</a:t>
            </a:r>
          </a:p>
          <a:p>
            <a:pPr>
              <a:spcAft>
                <a:spcPts val="1000"/>
              </a:spcAft>
            </a:pPr>
            <a:r>
              <a:rPr sz="1200"/>
              <a:t>    </a:t>
            </a:r>
            <a:r>
              <a:rPr sz="1200">
                <a:solidFill>
                  <a:srgbClr val="B8C2D8"/>
                </a:solidFill>
                <a:latin typeface="SF Pro Display"/>
              </a:rPr>
              <a:t>Self-hosted Whisper v3 + canned demo mode. Timestamped segments with trigger metadata.</a:t>
            </a:r>
          </a:p>
          <a:p>
            <a:pPr>
              <a:spcAft>
                <a:spcPts val="600"/>
              </a:spcAft>
            </a:pPr>
            <a:r>
              <a:rPr sz="1600" b="1">
                <a:solidFill>
                  <a:srgbClr val="D4A64A"/>
                </a:solidFill>
              </a:rPr>
              <a:t>●  </a:t>
            </a:r>
            <a:r>
              <a:rPr sz="1600" b="1">
                <a:solidFill>
                  <a:srgbClr val="FFFFFF"/>
                </a:solidFill>
                <a:latin typeface="SF Pro Display"/>
              </a:rPr>
              <a:t>Trigger classifier</a:t>
            </a:r>
          </a:p>
          <a:p>
            <a:pPr>
              <a:spcAft>
                <a:spcPts val="1000"/>
              </a:spcAft>
            </a:pPr>
            <a:r>
              <a:rPr sz="1200"/>
              <a:t>    </a:t>
            </a:r>
            <a:r>
              <a:rPr sz="1200">
                <a:solidFill>
                  <a:srgbClr val="B8C2D8"/>
                </a:solidFill>
                <a:latin typeface="SF Pro Display"/>
              </a:rPr>
              <a:t>Keyword + suppression-list detector identifies physical exam, imaging review, wound assessment moments. Unit-tested.</a:t>
            </a:r>
          </a:p>
          <a:p>
            <a:pPr>
              <a:spcAft>
                <a:spcPts val="600"/>
              </a:spcAft>
            </a:pPr>
            <a:r>
              <a:rPr sz="1600" b="1">
                <a:solidFill>
                  <a:srgbClr val="D4A64A"/>
                </a:solidFill>
              </a:rPr>
              <a:t>●  </a:t>
            </a:r>
            <a:r>
              <a:rPr sz="1600" b="1">
                <a:solidFill>
                  <a:srgbClr val="FFFFFF"/>
                </a:solidFill>
                <a:latin typeface="SF Pro Display"/>
              </a:rPr>
              <a:t>Stage 1 — Audio-first draft</a:t>
            </a:r>
          </a:p>
          <a:p>
            <a:pPr>
              <a:spcAft>
                <a:spcPts val="1000"/>
              </a:spcAft>
            </a:pPr>
            <a:r>
              <a:rPr sz="1200"/>
              <a:t>    </a:t>
            </a:r>
            <a:r>
              <a:rPr sz="1200">
                <a:solidFill>
                  <a:srgbClr val="B8C2D8"/>
                </a:solidFill>
                <a:latin typeface="SF Pro Display"/>
              </a:rPr>
              <a:t>&lt; 30 s end-to-end: transcript → openai/anthropic/gemini → structured note with citation anchors.</a:t>
            </a:r>
          </a:p>
          <a:p>
            <a:pPr>
              <a:spcAft>
                <a:spcPts val="600"/>
              </a:spcAft>
            </a:pPr>
            <a:r>
              <a:rPr sz="1600" b="1">
                <a:solidFill>
                  <a:srgbClr val="D4A64A"/>
                </a:solidFill>
              </a:rPr>
              <a:t>●  </a:t>
            </a:r>
            <a:r>
              <a:rPr sz="1600" b="1">
                <a:solidFill>
                  <a:srgbClr val="FFFFFF"/>
                </a:solidFill>
                <a:latin typeface="SF Pro Display"/>
              </a:rPr>
              <a:t>Stage 2 — Visual enrichment</a:t>
            </a:r>
          </a:p>
          <a:p>
            <a:pPr>
              <a:spcAft>
                <a:spcPts val="1000"/>
              </a:spcAft>
            </a:pPr>
            <a:r>
              <a:rPr sz="1200"/>
              <a:t>    </a:t>
            </a:r>
            <a:r>
              <a:rPr sz="1200">
                <a:solidFill>
                  <a:srgbClr val="B8C2D8"/>
                </a:solidFill>
                <a:latin typeface="SF Pro Display"/>
              </a:rPr>
              <a:t>Frame extraction at trigger timestamps → vision provider captioning → ENRICHES/REPEATS/CONFLICTS merge.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WHAT'S DONE · 2 / 3</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Note Generation &amp; Review</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0" y="1143000"/>
            <a:ext cx="1463040" cy="365760"/>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E7D32"/>
                </a:solidFill>
              </a:rPr>
              <a:t>✓  DONE</a:t>
            </a:r>
          </a:p>
        </p:txBody>
      </p:sp>
      <p:sp>
        <p:nvSpPr>
          <p:cNvPr id="8" name="TextBox 7"/>
          <p:cNvSpPr txBox="1"/>
          <p:nvPr/>
        </p:nvSpPr>
        <p:spPr>
          <a:xfrm>
            <a:off x="640080" y="1645920"/>
            <a:ext cx="10908792" cy="5029200"/>
          </a:xfrm>
          <a:prstGeom prst="rect">
            <a:avLst/>
          </a:prstGeom>
          <a:noFill/>
        </p:spPr>
        <p:txBody>
          <a:bodyPr wrap="square" lIns="0" rIns="0" tIns="0" bIns="0">
            <a:spAutoFit/>
          </a:bodyPr>
          <a:lstStyle/>
          <a:p>
            <a:pPr>
              <a:spcAft>
                <a:spcPts val="600"/>
              </a:spcAft>
            </a:pPr>
            <a:r>
              <a:rPr sz="1600" b="1">
                <a:solidFill>
                  <a:srgbClr val="D4A64A"/>
                </a:solidFill>
              </a:rPr>
              <a:t>●  </a:t>
            </a:r>
            <a:r>
              <a:rPr sz="1600" b="1">
                <a:solidFill>
                  <a:srgbClr val="FFFFFF"/>
                </a:solidFill>
                <a:latin typeface="SF Pro Display"/>
              </a:rPr>
              <a:t>5 specialty templates</a:t>
            </a:r>
          </a:p>
          <a:p>
            <a:pPr>
              <a:spcAft>
                <a:spcPts val="1000"/>
              </a:spcAft>
            </a:pPr>
            <a:r>
              <a:rPr sz="1200"/>
              <a:t>    </a:t>
            </a:r>
            <a:r>
              <a:rPr sz="1200">
                <a:solidFill>
                  <a:srgbClr val="B8C2D8"/>
                </a:solidFill>
                <a:latin typeface="SF Pro Display"/>
              </a:rPr>
              <a:t>Orthopedic, plastic, musculoskeletal, emergency medicine, general — all with citation-anchored claims.</a:t>
            </a:r>
          </a:p>
          <a:p>
            <a:pPr>
              <a:spcAft>
                <a:spcPts val="600"/>
              </a:spcAft>
            </a:pPr>
            <a:r>
              <a:rPr sz="1600" b="1">
                <a:solidFill>
                  <a:srgbClr val="D4A64A"/>
                </a:solidFill>
              </a:rPr>
              <a:t>●  </a:t>
            </a:r>
            <a:r>
              <a:rPr sz="1600" b="1">
                <a:solidFill>
                  <a:srgbClr val="FFFFFF"/>
                </a:solidFill>
                <a:latin typeface="SF Pro Display"/>
              </a:rPr>
              <a:t>Conflict resolution UI</a:t>
            </a:r>
          </a:p>
          <a:p>
            <a:pPr>
              <a:spcAft>
                <a:spcPts val="1000"/>
              </a:spcAft>
            </a:pPr>
            <a:r>
              <a:rPr sz="1200"/>
              <a:t>    </a:t>
            </a:r>
            <a:r>
              <a:rPr sz="1200">
                <a:solidFill>
                  <a:srgbClr val="B8C2D8"/>
                </a:solidFill>
                <a:latin typeface="SF Pro Display"/>
              </a:rPr>
              <a:t>CONFLICTS flagged amber. Mandatory resolution before Approve &amp; Sign — cannot be bypassed.</a:t>
            </a:r>
          </a:p>
          <a:p>
            <a:pPr>
              <a:spcAft>
                <a:spcPts val="600"/>
              </a:spcAft>
            </a:pPr>
            <a:r>
              <a:rPr sz="1600" b="1">
                <a:solidFill>
                  <a:srgbClr val="D4A64A"/>
                </a:solidFill>
              </a:rPr>
              <a:t>●  </a:t>
            </a:r>
            <a:r>
              <a:rPr sz="1600" b="1">
                <a:solidFill>
                  <a:srgbClr val="FFFFFF"/>
                </a:solidFill>
                <a:latin typeface="SF Pro Display"/>
              </a:rPr>
              <a:t>Note versioning</a:t>
            </a:r>
          </a:p>
          <a:p>
            <a:pPr>
              <a:spcAft>
                <a:spcPts val="1000"/>
              </a:spcAft>
            </a:pPr>
            <a:r>
              <a:rPr sz="1200"/>
              <a:t>    </a:t>
            </a:r>
            <a:r>
              <a:rPr sz="1200">
                <a:solidFill>
                  <a:srgbClr val="B8C2D8"/>
                </a:solidFill>
                <a:latin typeface="SF Pro Display"/>
              </a:rPr>
              <a:t>Every edit creates an immutable version. Stage 1 = v1, approved = vFinal. Full history retained.</a:t>
            </a:r>
          </a:p>
          <a:p>
            <a:pPr>
              <a:spcAft>
                <a:spcPts val="600"/>
              </a:spcAft>
            </a:pPr>
            <a:r>
              <a:rPr sz="1600" b="1">
                <a:solidFill>
                  <a:srgbClr val="D4A64A"/>
                </a:solidFill>
              </a:rPr>
              <a:t>●  </a:t>
            </a:r>
            <a:r>
              <a:rPr sz="1600" b="1">
                <a:solidFill>
                  <a:srgbClr val="FFFFFF"/>
                </a:solidFill>
                <a:latin typeface="SF Pro Display"/>
              </a:rPr>
              <a:t>Clinician review &amp; approval</a:t>
            </a:r>
          </a:p>
          <a:p>
            <a:pPr>
              <a:spcAft>
                <a:spcPts val="1000"/>
              </a:spcAft>
            </a:pPr>
            <a:r>
              <a:rPr sz="1200"/>
              <a:t>    </a:t>
            </a:r>
            <a:r>
              <a:rPr sz="1200">
                <a:solidFill>
                  <a:srgbClr val="B8C2D8"/>
                </a:solidFill>
                <a:latin typeface="SF Pro Display"/>
              </a:rPr>
              <a:t>Section-by-section review, tap-to-source citation viewer, two-tap approval, completeness ring.</a:t>
            </a:r>
          </a:p>
          <a:p>
            <a:pPr>
              <a:spcAft>
                <a:spcPts val="600"/>
              </a:spcAft>
            </a:pPr>
            <a:r>
              <a:rPr sz="1600" b="1">
                <a:solidFill>
                  <a:srgbClr val="D4A64A"/>
                </a:solidFill>
              </a:rPr>
              <a:t>●  </a:t>
            </a:r>
            <a:r>
              <a:rPr sz="1600" b="1">
                <a:solidFill>
                  <a:srgbClr val="FFFFFF"/>
                </a:solidFill>
                <a:latin typeface="SF Pro Display"/>
              </a:rPr>
              <a:t>Export — DOCX &amp; plain text</a:t>
            </a:r>
          </a:p>
          <a:p>
            <a:pPr>
              <a:spcAft>
                <a:spcPts val="1000"/>
              </a:spcAft>
            </a:pPr>
            <a:r>
              <a:rPr sz="1200"/>
              <a:t>    </a:t>
            </a:r>
            <a:r>
              <a:rPr sz="1200">
                <a:solidFill>
                  <a:srgbClr val="B8C2D8"/>
                </a:solidFill>
                <a:latin typeface="SF Pro Display"/>
              </a:rPr>
              <a:t>On-device DOCX generation, no server round-trip. Plain text fallback. Triggers cleanup pipeline.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WHAT'S DONE · 3 / 3</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Platform &amp; Operations</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0" y="1143000"/>
            <a:ext cx="1463040" cy="365760"/>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2E7D32"/>
                </a:solidFill>
              </a:rPr>
              <a:t>✓  DONE</a:t>
            </a:r>
          </a:p>
        </p:txBody>
      </p:sp>
      <p:sp>
        <p:nvSpPr>
          <p:cNvPr id="8" name="TextBox 7"/>
          <p:cNvSpPr txBox="1"/>
          <p:nvPr/>
        </p:nvSpPr>
        <p:spPr>
          <a:xfrm>
            <a:off x="640080" y="1645920"/>
            <a:ext cx="10908792" cy="5029200"/>
          </a:xfrm>
          <a:prstGeom prst="rect">
            <a:avLst/>
          </a:prstGeom>
          <a:noFill/>
        </p:spPr>
        <p:txBody>
          <a:bodyPr wrap="square" lIns="0" rIns="0" tIns="0" bIns="0">
            <a:spAutoFit/>
          </a:bodyPr>
          <a:lstStyle/>
          <a:p>
            <a:pPr>
              <a:spcAft>
                <a:spcPts val="600"/>
              </a:spcAft>
            </a:pPr>
            <a:r>
              <a:rPr sz="1600" b="1">
                <a:solidFill>
                  <a:srgbClr val="D4A64A"/>
                </a:solidFill>
              </a:rPr>
              <a:t>●  </a:t>
            </a:r>
            <a:r>
              <a:rPr sz="1600" b="1">
                <a:solidFill>
                  <a:srgbClr val="FFFFFF"/>
                </a:solidFill>
                <a:latin typeface="SF Pro Display"/>
              </a:rPr>
              <a:t>Patient consent — hard block</a:t>
            </a:r>
          </a:p>
          <a:p>
            <a:pPr>
              <a:spcAft>
                <a:spcPts val="1000"/>
              </a:spcAft>
            </a:pPr>
            <a:r>
              <a:rPr sz="1200"/>
              <a:t>    </a:t>
            </a:r>
            <a:r>
              <a:rPr sz="1200">
                <a:solidFill>
                  <a:srgbClr val="B8C2D8"/>
                </a:solidFill>
                <a:latin typeface="SF Pro Display"/>
              </a:rPr>
              <a:t>Record button disabled until consent_confirmed in audit log. Timestamped, immutable.</a:t>
            </a:r>
          </a:p>
          <a:p>
            <a:pPr>
              <a:spcAft>
                <a:spcPts val="600"/>
              </a:spcAft>
            </a:pPr>
            <a:r>
              <a:rPr sz="1600" b="1">
                <a:solidFill>
                  <a:srgbClr val="D4A64A"/>
                </a:solidFill>
              </a:rPr>
              <a:t>●  </a:t>
            </a:r>
            <a:r>
              <a:rPr sz="1600" b="1">
                <a:solidFill>
                  <a:srgbClr val="FFFFFF"/>
                </a:solidFill>
                <a:latin typeface="SF Pro Display"/>
              </a:rPr>
              <a:t>Session state machine</a:t>
            </a:r>
          </a:p>
          <a:p>
            <a:pPr>
              <a:spcAft>
                <a:spcPts val="1000"/>
              </a:spcAft>
            </a:pPr>
            <a:r>
              <a:rPr sz="1200"/>
              <a:t>    </a:t>
            </a:r>
            <a:r>
              <a:rPr sz="1200">
                <a:solidFill>
                  <a:srgbClr val="B8C2D8"/>
                </a:solidFill>
                <a:latin typeface="SF Pro Display"/>
              </a:rPr>
              <a:t>10 states · pause/resume · every transition writes an audit entry · recovery flow on crash.</a:t>
            </a:r>
          </a:p>
          <a:p>
            <a:pPr>
              <a:spcAft>
                <a:spcPts val="600"/>
              </a:spcAft>
            </a:pPr>
            <a:r>
              <a:rPr sz="1600" b="1">
                <a:solidFill>
                  <a:srgbClr val="D4A64A"/>
                </a:solidFill>
              </a:rPr>
              <a:t>●  </a:t>
            </a:r>
            <a:r>
              <a:rPr sz="1600" b="1">
                <a:solidFill>
                  <a:srgbClr val="FFFFFF"/>
                </a:solidFill>
                <a:latin typeface="SF Pro Display"/>
              </a:rPr>
              <a:t>Provider switching (AppConfig)</a:t>
            </a:r>
          </a:p>
          <a:p>
            <a:pPr>
              <a:spcAft>
                <a:spcPts val="1000"/>
              </a:spcAft>
            </a:pPr>
            <a:r>
              <a:rPr sz="1200"/>
              <a:t>    </a:t>
            </a:r>
            <a:r>
              <a:rPr sz="1200">
                <a:solidFill>
                  <a:srgbClr val="B8C2D8"/>
                </a:solidFill>
                <a:latin typeface="SF Pro Display"/>
              </a:rPr>
              <a:t>Whisper / OpenAI / Anthropic / Gemini swappable via .env or AppConfig — no redeploy, per-session override.</a:t>
            </a:r>
          </a:p>
          <a:p>
            <a:pPr>
              <a:spcAft>
                <a:spcPts val="600"/>
              </a:spcAft>
            </a:pPr>
            <a:r>
              <a:rPr sz="1600" b="1">
                <a:solidFill>
                  <a:srgbClr val="D4A64A"/>
                </a:solidFill>
              </a:rPr>
              <a:t>●  </a:t>
            </a:r>
            <a:r>
              <a:rPr sz="1600" b="1">
                <a:solidFill>
                  <a:srgbClr val="FFFFFF"/>
                </a:solidFill>
                <a:latin typeface="SF Pro Display"/>
              </a:rPr>
              <a:t>Immutable audit trail</a:t>
            </a:r>
          </a:p>
          <a:p>
            <a:pPr>
              <a:spcAft>
                <a:spcPts val="1000"/>
              </a:spcAft>
            </a:pPr>
            <a:r>
              <a:rPr sz="1200"/>
              <a:t>    </a:t>
            </a:r>
            <a:r>
              <a:rPr sz="1200">
                <a:solidFill>
                  <a:srgbClr val="B8C2D8"/>
                </a:solidFill>
                <a:latin typeface="SF Pro Display"/>
              </a:rPr>
              <a:t>DynamoDB append-only · 7-year retention · every lifecycle event logged with no PHI.</a:t>
            </a:r>
          </a:p>
          <a:p>
            <a:pPr>
              <a:spcAft>
                <a:spcPts val="600"/>
              </a:spcAft>
            </a:pPr>
            <a:r>
              <a:rPr sz="1600" b="1">
                <a:solidFill>
                  <a:srgbClr val="D4A64A"/>
                </a:solidFill>
              </a:rPr>
              <a:t>●  </a:t>
            </a:r>
            <a:r>
              <a:rPr sz="1600" b="1">
                <a:solidFill>
                  <a:srgbClr val="FFFFFF"/>
                </a:solidFill>
                <a:latin typeface="SF Pro Display"/>
              </a:rPr>
              <a:t>Pilot metrics + web portal</a:t>
            </a:r>
          </a:p>
          <a:p>
            <a:pPr>
              <a:spcAft>
                <a:spcPts val="1000"/>
              </a:spcAft>
            </a:pPr>
            <a:r>
              <a:rPr sz="1200"/>
              <a:t>    </a:t>
            </a:r>
            <a:r>
              <a:rPr sz="1200">
                <a:solidFill>
                  <a:srgbClr val="B8C2D8"/>
                </a:solidFill>
                <a:latin typeface="SF Pro Display"/>
              </a:rPr>
              <a:t>8 behaviour metrics emitted per session. Next.js admin portal: sessions inbox, audit viewer, profile.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WHAT REMAINS · 1 / 2</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In-Scope Gaps to Close</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784080" y="1143000"/>
            <a:ext cx="1737360" cy="365760"/>
          </a:xfrm>
          <a:prstGeom prst="roundRect">
            <a:avLst>
              <a:gd name="adj" fmla="val 50000"/>
            </a:avLst>
          </a:prstGeom>
          <a:solidFill>
            <a:srgbClr val="FFF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57F17"/>
                </a:solidFill>
              </a:rPr>
              <a:t>⏳  REMAINING</a:t>
            </a:r>
          </a:p>
        </p:txBody>
      </p:sp>
      <p:sp>
        <p:nvSpPr>
          <p:cNvPr id="8" name="TextBox 7"/>
          <p:cNvSpPr txBox="1"/>
          <p:nvPr/>
        </p:nvSpPr>
        <p:spPr>
          <a:xfrm>
            <a:off x="640080" y="1645920"/>
            <a:ext cx="10908792" cy="5029200"/>
          </a:xfrm>
          <a:prstGeom prst="rect">
            <a:avLst/>
          </a:prstGeom>
          <a:noFill/>
        </p:spPr>
        <p:txBody>
          <a:bodyPr wrap="square" lIns="0" rIns="0" tIns="0" bIns="0">
            <a:spAutoFit/>
          </a:bodyPr>
          <a:lstStyle/>
          <a:p>
            <a:pPr>
              <a:spcAft>
                <a:spcPts val="600"/>
              </a:spcAft>
            </a:pPr>
            <a:r>
              <a:rPr sz="1600" b="1">
                <a:solidFill>
                  <a:srgbClr val="F57F17"/>
                </a:solidFill>
              </a:rPr>
              <a:t>●  </a:t>
            </a:r>
            <a:r>
              <a:rPr sz="1600" b="1">
                <a:solidFill>
                  <a:srgbClr val="FFFFFF"/>
                </a:solidFill>
                <a:latin typeface="SF Pro Display"/>
              </a:rPr>
              <a:t>Voice enrollment → speaker separation wiring</a:t>
            </a:r>
          </a:p>
          <a:p>
            <a:pPr>
              <a:spcAft>
                <a:spcPts val="1000"/>
              </a:spcAft>
            </a:pPr>
            <a:r>
              <a:rPr sz="1200"/>
              <a:t>    </a:t>
            </a:r>
            <a:r>
              <a:rPr sz="1200">
                <a:solidFill>
                  <a:srgbClr val="B8C2D8"/>
                </a:solidFill>
                <a:latin typeface="SF Pro Display"/>
              </a:rPr>
              <a:t>Onboarding flow + Keychain-stored embedding exist. Not yet wired to physician/other segment tagging in the transcript pipeline.</a:t>
            </a:r>
          </a:p>
          <a:p>
            <a:pPr>
              <a:spcAft>
                <a:spcPts val="600"/>
              </a:spcAft>
            </a:pPr>
            <a:r>
              <a:rPr sz="1600" b="1">
                <a:solidFill>
                  <a:srgbClr val="F57F17"/>
                </a:solidFill>
              </a:rPr>
              <a:t>●  </a:t>
            </a:r>
            <a:r>
              <a:rPr sz="1600" b="1">
                <a:solidFill>
                  <a:srgbClr val="FFFFFF"/>
                </a:solidFill>
                <a:latin typeface="SF Pro Display"/>
              </a:rPr>
              <a:t>On-device PHI masking — final audit gate</a:t>
            </a:r>
          </a:p>
          <a:p>
            <a:pPr>
              <a:spcAft>
                <a:spcPts val="1000"/>
              </a:spcAft>
            </a:pPr>
            <a:r>
              <a:rPr sz="1200"/>
              <a:t>    </a:t>
            </a:r>
            <a:r>
              <a:rPr sz="1200">
                <a:solidFill>
                  <a:srgbClr val="B8C2D8"/>
                </a:solidFill>
                <a:latin typeface="SF Pro Display"/>
              </a:rPr>
              <a:t>MediaPipe face detection + Apple Vision OCR code present. Masking-status-before-upload audit assertion needs final integration.</a:t>
            </a:r>
          </a:p>
          <a:p>
            <a:pPr>
              <a:spcAft>
                <a:spcPts val="600"/>
              </a:spcAft>
            </a:pPr>
            <a:r>
              <a:rPr sz="1600" b="1">
                <a:solidFill>
                  <a:srgbClr val="F57F17"/>
                </a:solidFill>
              </a:rPr>
              <a:t>●  </a:t>
            </a:r>
            <a:r>
              <a:rPr sz="1600" b="1">
                <a:solidFill>
                  <a:srgbClr val="FFFFFF"/>
                </a:solidFill>
                <a:latin typeface="SF Pro Display"/>
              </a:rPr>
              <a:t>Raw data purge — production wiring</a:t>
            </a:r>
          </a:p>
          <a:p>
            <a:pPr>
              <a:spcAft>
                <a:spcPts val="1000"/>
              </a:spcAft>
            </a:pPr>
            <a:r>
              <a:rPr sz="1200"/>
              <a:t>    </a:t>
            </a:r>
            <a:r>
              <a:rPr sz="1200">
                <a:solidFill>
                  <a:srgbClr val="B8C2D8"/>
                </a:solidFill>
                <a:latin typeface="SF Pro Display"/>
              </a:rPr>
              <a:t>Cleanup module + S3 lifecycle policy written. Live S3 TTL pending production AWS deployment (Phase 8).</a:t>
            </a:r>
          </a:p>
          <a:p>
            <a:pPr>
              <a:spcAft>
                <a:spcPts val="600"/>
              </a:spcAft>
            </a:pPr>
            <a:r>
              <a:rPr sz="1600" b="1">
                <a:solidFill>
                  <a:srgbClr val="F57F17"/>
                </a:solidFill>
              </a:rPr>
              <a:t>●  </a:t>
            </a:r>
            <a:r>
              <a:rPr sz="1600" b="1">
                <a:solidFill>
                  <a:srgbClr val="FFFFFF"/>
                </a:solidFill>
                <a:latin typeface="SF Pro Display"/>
              </a:rPr>
              <a:t>iPad-specific split-view note review</a:t>
            </a:r>
          </a:p>
          <a:p>
            <a:pPr>
              <a:spcAft>
                <a:spcPts val="1000"/>
              </a:spcAft>
            </a:pPr>
            <a:r>
              <a:rPr sz="1200"/>
              <a:t>    </a:t>
            </a:r>
            <a:r>
              <a:rPr sz="1200">
                <a:solidFill>
                  <a:srgbClr val="B8C2D8"/>
                </a:solidFill>
                <a:latin typeface="SF Pro Display"/>
              </a:rPr>
              <a:t>Universal SwiftUI codebase compiles for iPad but the planned two-column layout for note review isn't built yet.</a:t>
            </a:r>
          </a:p>
          <a:p>
            <a:pPr>
              <a:spcAft>
                <a:spcPts val="600"/>
              </a:spcAft>
            </a:pPr>
            <a:r>
              <a:rPr sz="1600" b="1">
                <a:solidFill>
                  <a:srgbClr val="F57F17"/>
                </a:solidFill>
              </a:rPr>
              <a:t>●  </a:t>
            </a:r>
            <a:r>
              <a:rPr sz="1600" b="1">
                <a:solidFill>
                  <a:srgbClr val="FFFFFF"/>
                </a:solidFill>
                <a:latin typeface="SF Pro Display"/>
              </a:rPr>
              <a:t>Phase 8 — production AWS deploy</a:t>
            </a:r>
          </a:p>
          <a:p>
            <a:pPr>
              <a:spcAft>
                <a:spcPts val="1000"/>
              </a:spcAft>
            </a:pPr>
            <a:r>
              <a:rPr sz="1200"/>
              <a:t>    </a:t>
            </a:r>
            <a:r>
              <a:rPr sz="1200">
                <a:solidFill>
                  <a:srgbClr val="B8C2D8"/>
                </a:solidFill>
                <a:latin typeface="SF Pro Display"/>
              </a:rPr>
              <a:t>All Terraform written; needs BAA sign-off before `terraform apply` against ca-central-1.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WHAT REMAINS · 2 / 2</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Deferred — Out of Scope for MVP</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784080" y="1143000"/>
            <a:ext cx="1737360" cy="365760"/>
          </a:xfrm>
          <a:prstGeom prst="roundRect">
            <a:avLst>
              <a:gd name="adj" fmla="val 50000"/>
            </a:avLst>
          </a:prstGeom>
          <a:solidFill>
            <a:srgbClr val="FFF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57F17"/>
                </a:solidFill>
              </a:rPr>
              <a:t>⏳  REMAINING</a:t>
            </a:r>
          </a:p>
        </p:txBody>
      </p:sp>
      <p:sp>
        <p:nvSpPr>
          <p:cNvPr id="8" name="TextBox 7"/>
          <p:cNvSpPr txBox="1"/>
          <p:nvPr/>
        </p:nvSpPr>
        <p:spPr>
          <a:xfrm>
            <a:off x="640080" y="1645920"/>
            <a:ext cx="10908792" cy="5029200"/>
          </a:xfrm>
          <a:prstGeom prst="rect">
            <a:avLst/>
          </a:prstGeom>
          <a:noFill/>
        </p:spPr>
        <p:txBody>
          <a:bodyPr wrap="square" lIns="0" rIns="0" tIns="0" bIns="0">
            <a:spAutoFit/>
          </a:bodyPr>
          <a:lstStyle/>
          <a:p>
            <a:pPr>
              <a:spcAft>
                <a:spcPts val="600"/>
              </a:spcAft>
            </a:pPr>
            <a:r>
              <a:rPr sz="1600" b="1">
                <a:solidFill>
                  <a:srgbClr val="F57F17"/>
                </a:solidFill>
              </a:rPr>
              <a:t>●  </a:t>
            </a:r>
            <a:r>
              <a:rPr sz="1600" b="1">
                <a:solidFill>
                  <a:srgbClr val="FFFFFF"/>
                </a:solidFill>
                <a:latin typeface="SF Pro Display"/>
              </a:rPr>
              <a:t>Post-Op / Procedural Mode</a:t>
            </a:r>
          </a:p>
          <a:p>
            <a:pPr>
              <a:spcAft>
                <a:spcPts val="1000"/>
              </a:spcAft>
            </a:pPr>
            <a:r>
              <a:rPr sz="1200"/>
              <a:t>    </a:t>
            </a:r>
            <a:r>
              <a:rPr sz="1200">
                <a:solidFill>
                  <a:srgbClr val="B8C2D8"/>
                </a:solidFill>
                <a:latin typeface="SF Pro Display"/>
              </a:rPr>
              <a:t>Different capture model (milestone-triggered, OR sterile zone). Planned v1 post-pilot.</a:t>
            </a:r>
          </a:p>
          <a:p>
            <a:pPr>
              <a:spcAft>
                <a:spcPts val="600"/>
              </a:spcAft>
            </a:pPr>
            <a:r>
              <a:rPr sz="1600" b="1">
                <a:solidFill>
                  <a:srgbClr val="F57F17"/>
                </a:solidFill>
              </a:rPr>
              <a:t>●  </a:t>
            </a:r>
            <a:r>
              <a:rPr sz="1600" b="1">
                <a:solidFill>
                  <a:srgbClr val="FFFFFF"/>
                </a:solidFill>
                <a:latin typeface="SF Pro Display"/>
              </a:rPr>
              <a:t>EMR / FHIR direct integration</a:t>
            </a:r>
          </a:p>
          <a:p>
            <a:pPr>
              <a:spcAft>
                <a:spcPts val="1000"/>
              </a:spcAft>
            </a:pPr>
            <a:r>
              <a:rPr sz="1200"/>
              <a:t>    </a:t>
            </a:r>
            <a:r>
              <a:rPr sz="1200">
                <a:solidFill>
                  <a:srgbClr val="B8C2D8"/>
                </a:solidFill>
                <a:latin typeface="SF Pro Display"/>
              </a:rPr>
              <a:t>DOCX copy-paste sufficient for pilot. Planned v1 — triggered by first hospital contract.</a:t>
            </a:r>
          </a:p>
          <a:p>
            <a:pPr>
              <a:spcAft>
                <a:spcPts val="600"/>
              </a:spcAft>
            </a:pPr>
            <a:r>
              <a:rPr sz="1600" b="1">
                <a:solidFill>
                  <a:srgbClr val="F57F17"/>
                </a:solidFill>
              </a:rPr>
              <a:t>●  </a:t>
            </a:r>
            <a:r>
              <a:rPr sz="1600" b="1">
                <a:solidFill>
                  <a:srgbClr val="FFFFFF"/>
                </a:solidFill>
                <a:latin typeface="SF Pro Display"/>
              </a:rPr>
              <a:t>French language support</a:t>
            </a:r>
          </a:p>
          <a:p>
            <a:pPr>
              <a:spcAft>
                <a:spcPts val="1000"/>
              </a:spcAft>
            </a:pPr>
            <a:r>
              <a:rPr sz="1200"/>
              <a:t>    </a:t>
            </a:r>
            <a:r>
              <a:rPr sz="1200">
                <a:solidFill>
                  <a:srgbClr val="B8C2D8"/>
                </a:solidFill>
                <a:latin typeface="SF Pro Display"/>
              </a:rPr>
              <a:t>Whisper supports FR but specialty templates need physician validation. Planned v2.</a:t>
            </a:r>
          </a:p>
          <a:p>
            <a:pPr>
              <a:spcAft>
                <a:spcPts val="600"/>
              </a:spcAft>
            </a:pPr>
            <a:r>
              <a:rPr sz="1600" b="1">
                <a:solidFill>
                  <a:srgbClr val="F57F17"/>
                </a:solidFill>
              </a:rPr>
              <a:t>●  </a:t>
            </a:r>
            <a:r>
              <a:rPr sz="1600" b="1">
                <a:solidFill>
                  <a:srgbClr val="FFFFFF"/>
                </a:solidFill>
                <a:latin typeface="SF Pro Display"/>
              </a:rPr>
              <a:t>Android app</a:t>
            </a:r>
          </a:p>
          <a:p>
            <a:pPr>
              <a:spcAft>
                <a:spcPts val="1000"/>
              </a:spcAft>
            </a:pPr>
            <a:r>
              <a:rPr sz="1200"/>
              <a:t>    </a:t>
            </a:r>
            <a:r>
              <a:rPr sz="1200">
                <a:solidFill>
                  <a:srgbClr val="B8C2D8"/>
                </a:solidFill>
                <a:latin typeface="SF Pro Display"/>
              </a:rPr>
              <a:t>iOS-only for pilot — AVFoundation, Core ML, BLE require dedicated Android scope. Planned v1.</a:t>
            </a:r>
          </a:p>
          <a:p>
            <a:pPr>
              <a:spcAft>
                <a:spcPts val="600"/>
              </a:spcAft>
            </a:pPr>
            <a:r>
              <a:rPr sz="1600" b="1">
                <a:solidFill>
                  <a:srgbClr val="F57F17"/>
                </a:solidFill>
              </a:rPr>
              <a:t>●  </a:t>
            </a:r>
            <a:r>
              <a:rPr sz="1600" b="1">
                <a:solidFill>
                  <a:srgbClr val="FFFFFF"/>
                </a:solidFill>
                <a:latin typeface="SF Pro Display"/>
              </a:rPr>
              <a:t>Real-time diagnostic AI · LLM fine-tuning · Speaker diarization</a:t>
            </a:r>
          </a:p>
          <a:p>
            <a:pPr>
              <a:spcAft>
                <a:spcPts val="1000"/>
              </a:spcAft>
            </a:pPr>
            <a:r>
              <a:rPr sz="1200"/>
              <a:t>    </a:t>
            </a:r>
            <a:r>
              <a:rPr sz="1200">
                <a:solidFill>
                  <a:srgbClr val="B8C2D8"/>
                </a:solidFill>
                <a:latin typeface="SF Pro Display"/>
              </a:rPr>
              <a:t>Permanently out of MVP scope. Diagnostic = regulatory review required. Fine-tuning waits for pilot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PHASES 0 → 9</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Build Phase Status</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408176"/>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0</a:t>
            </a:r>
          </a:p>
        </p:txBody>
      </p:sp>
      <p:sp>
        <p:nvSpPr>
          <p:cNvPr id="8" name="TextBox 7"/>
          <p:cNvSpPr txBox="1"/>
          <p:nvPr/>
        </p:nvSpPr>
        <p:spPr>
          <a:xfrm>
            <a:off x="1280160" y="1417320"/>
            <a:ext cx="8686800" cy="365760"/>
          </a:xfrm>
          <a:prstGeom prst="rect">
            <a:avLst/>
          </a:prstGeom>
          <a:noFill/>
        </p:spPr>
        <p:txBody>
          <a:bodyPr wrap="none">
            <a:spAutoFit/>
          </a:bodyPr>
          <a:lstStyle/>
          <a:p>
            <a:r>
              <a:rPr sz="1500">
                <a:solidFill>
                  <a:srgbClr val="FFFFFF"/>
                </a:solidFill>
                <a:latin typeface="SF Pro Display"/>
              </a:rPr>
              <a:t>Config + provider infrastructure</a:t>
            </a:r>
          </a:p>
        </p:txBody>
      </p:sp>
      <p:sp>
        <p:nvSpPr>
          <p:cNvPr id="9" name="Rounded Rectangle 8"/>
          <p:cNvSpPr/>
          <p:nvPr/>
        </p:nvSpPr>
        <p:spPr>
          <a:xfrm>
            <a:off x="10058400" y="1426464"/>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10" name="Oval 9"/>
          <p:cNvSpPr/>
          <p:nvPr/>
        </p:nvSpPr>
        <p:spPr>
          <a:xfrm>
            <a:off x="731520" y="1828800"/>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1</a:t>
            </a:r>
          </a:p>
        </p:txBody>
      </p:sp>
      <p:sp>
        <p:nvSpPr>
          <p:cNvPr id="11" name="TextBox 10"/>
          <p:cNvSpPr txBox="1"/>
          <p:nvPr/>
        </p:nvSpPr>
        <p:spPr>
          <a:xfrm>
            <a:off x="1280160" y="1837944"/>
            <a:ext cx="8686800" cy="365760"/>
          </a:xfrm>
          <a:prstGeom prst="rect">
            <a:avLst/>
          </a:prstGeom>
          <a:noFill/>
        </p:spPr>
        <p:txBody>
          <a:bodyPr wrap="none">
            <a:spAutoFit/>
          </a:bodyPr>
          <a:lstStyle/>
          <a:p>
            <a:r>
              <a:rPr sz="1500">
                <a:solidFill>
                  <a:srgbClr val="FFFFFF"/>
                </a:solidFill>
                <a:latin typeface="SF Pro Display"/>
              </a:rPr>
              <a:t>Backend foundation (FastAPI, sessions, audit)</a:t>
            </a:r>
          </a:p>
        </p:txBody>
      </p:sp>
      <p:sp>
        <p:nvSpPr>
          <p:cNvPr id="12" name="Rounded Rectangle 11"/>
          <p:cNvSpPr/>
          <p:nvPr/>
        </p:nvSpPr>
        <p:spPr>
          <a:xfrm>
            <a:off x="10058400" y="1847088"/>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13" name="Oval 12"/>
          <p:cNvSpPr/>
          <p:nvPr/>
        </p:nvSpPr>
        <p:spPr>
          <a:xfrm>
            <a:off x="731520" y="2249424"/>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2</a:t>
            </a:r>
          </a:p>
        </p:txBody>
      </p:sp>
      <p:sp>
        <p:nvSpPr>
          <p:cNvPr id="14" name="TextBox 13"/>
          <p:cNvSpPr txBox="1"/>
          <p:nvPr/>
        </p:nvSpPr>
        <p:spPr>
          <a:xfrm>
            <a:off x="1280160" y="2258568"/>
            <a:ext cx="8686800" cy="365760"/>
          </a:xfrm>
          <a:prstGeom prst="rect">
            <a:avLst/>
          </a:prstGeom>
          <a:noFill/>
        </p:spPr>
        <p:txBody>
          <a:bodyPr wrap="none">
            <a:spAutoFit/>
          </a:bodyPr>
          <a:lstStyle/>
          <a:p>
            <a:r>
              <a:rPr sz="1500">
                <a:solidFill>
                  <a:srgbClr val="FFFFFF"/>
                </a:solidFill>
                <a:latin typeface="SF Pro Display"/>
              </a:rPr>
              <a:t>Transcription pipeline (Whisper)</a:t>
            </a:r>
          </a:p>
        </p:txBody>
      </p:sp>
      <p:sp>
        <p:nvSpPr>
          <p:cNvPr id="15" name="Rounded Rectangle 14"/>
          <p:cNvSpPr/>
          <p:nvPr/>
        </p:nvSpPr>
        <p:spPr>
          <a:xfrm>
            <a:off x="10058400" y="2267712"/>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16" name="Oval 15"/>
          <p:cNvSpPr/>
          <p:nvPr/>
        </p:nvSpPr>
        <p:spPr>
          <a:xfrm>
            <a:off x="731520" y="2670048"/>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3</a:t>
            </a:r>
          </a:p>
        </p:txBody>
      </p:sp>
      <p:sp>
        <p:nvSpPr>
          <p:cNvPr id="17" name="TextBox 16"/>
          <p:cNvSpPr txBox="1"/>
          <p:nvPr/>
        </p:nvSpPr>
        <p:spPr>
          <a:xfrm>
            <a:off x="1280160" y="2679192"/>
            <a:ext cx="8686800" cy="365760"/>
          </a:xfrm>
          <a:prstGeom prst="rect">
            <a:avLst/>
          </a:prstGeom>
          <a:noFill/>
        </p:spPr>
        <p:txBody>
          <a:bodyPr wrap="none">
            <a:spAutoFit/>
          </a:bodyPr>
          <a:lstStyle/>
          <a:p>
            <a:r>
              <a:rPr sz="1500">
                <a:solidFill>
                  <a:srgbClr val="FFFFFF"/>
                </a:solidFill>
                <a:latin typeface="SF Pro Display"/>
              </a:rPr>
              <a:t>Stage 1 — note generation (3 providers, 5 templates)</a:t>
            </a:r>
          </a:p>
        </p:txBody>
      </p:sp>
      <p:sp>
        <p:nvSpPr>
          <p:cNvPr id="18" name="Rounded Rectangle 17"/>
          <p:cNvSpPr/>
          <p:nvPr/>
        </p:nvSpPr>
        <p:spPr>
          <a:xfrm>
            <a:off x="10058400" y="2688336"/>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19" name="Oval 18"/>
          <p:cNvSpPr/>
          <p:nvPr/>
        </p:nvSpPr>
        <p:spPr>
          <a:xfrm>
            <a:off x="731520" y="3090672"/>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4</a:t>
            </a:r>
          </a:p>
        </p:txBody>
      </p:sp>
      <p:sp>
        <p:nvSpPr>
          <p:cNvPr id="20" name="TextBox 19"/>
          <p:cNvSpPr txBox="1"/>
          <p:nvPr/>
        </p:nvSpPr>
        <p:spPr>
          <a:xfrm>
            <a:off x="1280160" y="3099816"/>
            <a:ext cx="8686800" cy="365760"/>
          </a:xfrm>
          <a:prstGeom prst="rect">
            <a:avLst/>
          </a:prstGeom>
          <a:noFill/>
        </p:spPr>
        <p:txBody>
          <a:bodyPr wrap="none">
            <a:spAutoFit/>
          </a:bodyPr>
          <a:lstStyle/>
          <a:p>
            <a:r>
              <a:rPr sz="1500">
                <a:solidFill>
                  <a:srgbClr val="FFFFFF"/>
                </a:solidFill>
                <a:latin typeface="SF Pro Display"/>
              </a:rPr>
              <a:t>Vision pipeline (Stage 2) — ENRICHES/REPEATS/CONFLICTS</a:t>
            </a:r>
          </a:p>
        </p:txBody>
      </p:sp>
      <p:sp>
        <p:nvSpPr>
          <p:cNvPr id="21" name="Rounded Rectangle 20"/>
          <p:cNvSpPr/>
          <p:nvPr/>
        </p:nvSpPr>
        <p:spPr>
          <a:xfrm>
            <a:off x="10058400" y="3108960"/>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22" name="Oval 21"/>
          <p:cNvSpPr/>
          <p:nvPr/>
        </p:nvSpPr>
        <p:spPr>
          <a:xfrm>
            <a:off x="731520" y="3511296"/>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5</a:t>
            </a:r>
          </a:p>
        </p:txBody>
      </p:sp>
      <p:sp>
        <p:nvSpPr>
          <p:cNvPr id="23" name="TextBox 22"/>
          <p:cNvSpPr txBox="1"/>
          <p:nvPr/>
        </p:nvSpPr>
        <p:spPr>
          <a:xfrm>
            <a:off x="1280160" y="3520440"/>
            <a:ext cx="8686800" cy="365760"/>
          </a:xfrm>
          <a:prstGeom prst="rect">
            <a:avLst/>
          </a:prstGeom>
          <a:noFill/>
        </p:spPr>
        <p:txBody>
          <a:bodyPr wrap="none">
            <a:spAutoFit/>
          </a:bodyPr>
          <a:lstStyle/>
          <a:p>
            <a:r>
              <a:rPr sz="1500">
                <a:solidFill>
                  <a:srgbClr val="FFFFFF"/>
                </a:solidFill>
                <a:latin typeface="SF Pro Display"/>
              </a:rPr>
              <a:t>Screen capture pipeline (Textract OCR)</a:t>
            </a:r>
          </a:p>
        </p:txBody>
      </p:sp>
      <p:sp>
        <p:nvSpPr>
          <p:cNvPr id="24" name="Rounded Rectangle 23"/>
          <p:cNvSpPr/>
          <p:nvPr/>
        </p:nvSpPr>
        <p:spPr>
          <a:xfrm>
            <a:off x="10058400" y="3529584"/>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25" name="Oval 24"/>
          <p:cNvSpPr/>
          <p:nvPr/>
        </p:nvSpPr>
        <p:spPr>
          <a:xfrm>
            <a:off x="731520" y="3931920"/>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6</a:t>
            </a:r>
          </a:p>
        </p:txBody>
      </p:sp>
      <p:sp>
        <p:nvSpPr>
          <p:cNvPr id="26" name="TextBox 25"/>
          <p:cNvSpPr txBox="1"/>
          <p:nvPr/>
        </p:nvSpPr>
        <p:spPr>
          <a:xfrm>
            <a:off x="1280160" y="3941064"/>
            <a:ext cx="8686800" cy="365760"/>
          </a:xfrm>
          <a:prstGeom prst="rect">
            <a:avLst/>
          </a:prstGeom>
          <a:noFill/>
        </p:spPr>
        <p:txBody>
          <a:bodyPr wrap="none">
            <a:spAutoFit/>
          </a:bodyPr>
          <a:lstStyle/>
          <a:p>
            <a:r>
              <a:rPr sz="1500">
                <a:solidFill>
                  <a:srgbClr val="FFFFFF"/>
                </a:solidFill>
                <a:latin typeface="SF Pro Display"/>
              </a:rPr>
              <a:t>Audit, cleanup, export (DOCX, pilot metrics)</a:t>
            </a:r>
          </a:p>
        </p:txBody>
      </p:sp>
      <p:sp>
        <p:nvSpPr>
          <p:cNvPr id="27" name="Rounded Rectangle 26"/>
          <p:cNvSpPr/>
          <p:nvPr/>
        </p:nvSpPr>
        <p:spPr>
          <a:xfrm>
            <a:off x="10058400" y="3950208"/>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28" name="Oval 27"/>
          <p:cNvSpPr/>
          <p:nvPr/>
        </p:nvSpPr>
        <p:spPr>
          <a:xfrm>
            <a:off x="731520" y="4352544"/>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7</a:t>
            </a:r>
          </a:p>
        </p:txBody>
      </p:sp>
      <p:sp>
        <p:nvSpPr>
          <p:cNvPr id="29" name="TextBox 28"/>
          <p:cNvSpPr txBox="1"/>
          <p:nvPr/>
        </p:nvSpPr>
        <p:spPr>
          <a:xfrm>
            <a:off x="1280160" y="4361688"/>
            <a:ext cx="8686800" cy="365760"/>
          </a:xfrm>
          <a:prstGeom prst="rect">
            <a:avLst/>
          </a:prstGeom>
          <a:noFill/>
        </p:spPr>
        <p:txBody>
          <a:bodyPr wrap="none">
            <a:spAutoFit/>
          </a:bodyPr>
          <a:lstStyle/>
          <a:p>
            <a:r>
              <a:rPr sz="1500">
                <a:solidFill>
                  <a:srgbClr val="FFFFFF"/>
                </a:solidFill>
                <a:latin typeface="SF Pro Display"/>
              </a:rPr>
              <a:t>iOS app (capture, masking, review, export)</a:t>
            </a:r>
          </a:p>
        </p:txBody>
      </p:sp>
      <p:sp>
        <p:nvSpPr>
          <p:cNvPr id="30" name="Rounded Rectangle 29"/>
          <p:cNvSpPr/>
          <p:nvPr/>
        </p:nvSpPr>
        <p:spPr>
          <a:xfrm>
            <a:off x="10058400" y="4370832"/>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
        <p:nvSpPr>
          <p:cNvPr id="31" name="Oval 30"/>
          <p:cNvSpPr/>
          <p:nvPr/>
        </p:nvSpPr>
        <p:spPr>
          <a:xfrm>
            <a:off x="731520" y="4773168"/>
            <a:ext cx="365760" cy="365760"/>
          </a:xfrm>
          <a:prstGeom prst="ellipse">
            <a:avLst/>
          </a:prstGeom>
          <a:solidFill>
            <a:srgbClr val="F57F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8</a:t>
            </a:r>
          </a:p>
        </p:txBody>
      </p:sp>
      <p:sp>
        <p:nvSpPr>
          <p:cNvPr id="32" name="TextBox 31"/>
          <p:cNvSpPr txBox="1"/>
          <p:nvPr/>
        </p:nvSpPr>
        <p:spPr>
          <a:xfrm>
            <a:off x="1280160" y="4782312"/>
            <a:ext cx="8686800" cy="365760"/>
          </a:xfrm>
          <a:prstGeom prst="rect">
            <a:avLst/>
          </a:prstGeom>
          <a:noFill/>
        </p:spPr>
        <p:txBody>
          <a:bodyPr wrap="none">
            <a:spAutoFit/>
          </a:bodyPr>
          <a:lstStyle/>
          <a:p>
            <a:r>
              <a:rPr sz="1500">
                <a:solidFill>
                  <a:srgbClr val="FFFFFF"/>
                </a:solidFill>
                <a:latin typeface="SF Pro Display"/>
              </a:rPr>
              <a:t>Infrastructure-as-code (Terraform)</a:t>
            </a:r>
          </a:p>
        </p:txBody>
      </p:sp>
      <p:sp>
        <p:nvSpPr>
          <p:cNvPr id="33" name="Rounded Rectangle 32"/>
          <p:cNvSpPr/>
          <p:nvPr/>
        </p:nvSpPr>
        <p:spPr>
          <a:xfrm>
            <a:off x="10058400" y="4791456"/>
            <a:ext cx="1463040" cy="292608"/>
          </a:xfrm>
          <a:prstGeom prst="roundRect">
            <a:avLst>
              <a:gd name="adj" fmla="val 50000"/>
            </a:avLst>
          </a:prstGeom>
          <a:solidFill>
            <a:srgbClr val="FFF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57F17"/>
                </a:solidFill>
              </a:rPr>
              <a:t>PARTIAL</a:t>
            </a:r>
          </a:p>
        </p:txBody>
      </p:sp>
      <p:sp>
        <p:nvSpPr>
          <p:cNvPr id="34" name="Oval 33"/>
          <p:cNvSpPr/>
          <p:nvPr/>
        </p:nvSpPr>
        <p:spPr>
          <a:xfrm>
            <a:off x="731520" y="5193792"/>
            <a:ext cx="365760" cy="36576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81226"/>
                </a:solidFill>
              </a:rPr>
              <a:t>9</a:t>
            </a:r>
          </a:p>
        </p:txBody>
      </p:sp>
      <p:sp>
        <p:nvSpPr>
          <p:cNvPr id="35" name="TextBox 34"/>
          <p:cNvSpPr txBox="1"/>
          <p:nvPr/>
        </p:nvSpPr>
        <p:spPr>
          <a:xfrm>
            <a:off x="1280160" y="5202936"/>
            <a:ext cx="8686800" cy="365760"/>
          </a:xfrm>
          <a:prstGeom prst="rect">
            <a:avLst/>
          </a:prstGeom>
          <a:noFill/>
        </p:spPr>
        <p:txBody>
          <a:bodyPr wrap="none">
            <a:spAutoFit/>
          </a:bodyPr>
          <a:lstStyle/>
          <a:p>
            <a:r>
              <a:rPr sz="1500">
                <a:solidFill>
                  <a:srgbClr val="FFFFFF"/>
                </a:solidFill>
                <a:latin typeface="SF Pro Display"/>
              </a:rPr>
              <a:t>Web admin &amp; compliance portal</a:t>
            </a:r>
          </a:p>
        </p:txBody>
      </p:sp>
      <p:sp>
        <p:nvSpPr>
          <p:cNvPr id="36" name="Rounded Rectangle 35"/>
          <p:cNvSpPr/>
          <p:nvPr/>
        </p:nvSpPr>
        <p:spPr>
          <a:xfrm>
            <a:off x="10058400" y="5212080"/>
            <a:ext cx="1463040" cy="292608"/>
          </a:xfrm>
          <a:prstGeom prst="roundRect">
            <a:avLst>
              <a:gd name="adj" fmla="val 50000"/>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2E7D32"/>
                </a:solidFill>
              </a:rPr>
              <a:t>DONE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PRE-PILOT BLOCKERS</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Open Decisions</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10908792" cy="5212080"/>
          </a:xfrm>
          <a:prstGeom prst="rect">
            <a:avLst/>
          </a:prstGeom>
          <a:noFill/>
        </p:spPr>
        <p:txBody>
          <a:bodyPr wrap="square" lIns="0" rIns="0" tIns="0" bIns="0">
            <a:spAutoFit/>
          </a:bodyPr>
          <a:lstStyle/>
          <a:p>
            <a:pPr>
              <a:spcAft>
                <a:spcPts val="600"/>
              </a:spcAft>
            </a:pPr>
            <a:r>
              <a:rPr sz="1700" b="1">
                <a:solidFill>
                  <a:srgbClr val="D4A64A"/>
                </a:solidFill>
              </a:rPr>
              <a:t>●  </a:t>
            </a:r>
            <a:r>
              <a:rPr sz="1700" b="1">
                <a:solidFill>
                  <a:srgbClr val="FFFFFF"/>
                </a:solidFill>
                <a:latin typeface="SF Pro Display"/>
              </a:rPr>
              <a:t>GPT-4o BAA — direct vs Azure OpenAI</a:t>
            </a:r>
          </a:p>
          <a:p>
            <a:pPr>
              <a:spcAft>
                <a:spcPts val="1000"/>
              </a:spcAft>
            </a:pPr>
            <a:r>
              <a:rPr sz="1300"/>
              <a:t>    </a:t>
            </a:r>
            <a:r>
              <a:rPr sz="1300">
                <a:solidFill>
                  <a:srgbClr val="B8C2D8"/>
                </a:solidFill>
                <a:latin typeface="SF Pro Display"/>
              </a:rPr>
              <a:t>Legal review of business associate agreements. Required before any production note generation call. Owner: CTO + Legal.</a:t>
            </a:r>
          </a:p>
          <a:p>
            <a:pPr>
              <a:spcAft>
                <a:spcPts val="600"/>
              </a:spcAft>
            </a:pPr>
            <a:r>
              <a:rPr sz="1700" b="1">
                <a:solidFill>
                  <a:srgbClr val="D4A64A"/>
                </a:solidFill>
              </a:rPr>
              <a:t>●  </a:t>
            </a:r>
            <a:r>
              <a:rPr sz="1700" b="1">
                <a:solidFill>
                  <a:srgbClr val="FFFFFF"/>
                </a:solidFill>
                <a:latin typeface="SF Pro Display"/>
              </a:rPr>
              <a:t>Masked-frame retention policy &amp; deletion schedule</a:t>
            </a:r>
          </a:p>
          <a:p>
            <a:pPr>
              <a:spcAft>
                <a:spcPts val="1000"/>
              </a:spcAft>
            </a:pPr>
            <a:r>
              <a:rPr sz="1300"/>
              <a:t>    </a:t>
            </a:r>
            <a:r>
              <a:rPr sz="1300">
                <a:solidFill>
                  <a:srgbClr val="B8C2D8"/>
                </a:solidFill>
                <a:latin typeface="SF Pro Display"/>
              </a:rPr>
              <a:t>Compliance must approve the retention window and deletion cadence for eval-bucket frames. Owner: Legal / Compliance.</a:t>
            </a:r>
          </a:p>
          <a:p>
            <a:pPr>
              <a:spcAft>
                <a:spcPts val="600"/>
              </a:spcAft>
            </a:pPr>
            <a:r>
              <a:rPr sz="1700" b="1">
                <a:solidFill>
                  <a:srgbClr val="D4A64A"/>
                </a:solidFill>
              </a:rPr>
              <a:t>●  </a:t>
            </a:r>
            <a:r>
              <a:rPr sz="1700" b="1">
                <a:solidFill>
                  <a:srgbClr val="FFFFFF"/>
                </a:solidFill>
                <a:latin typeface="SF Pro Display"/>
              </a:rPr>
              <a:t>Meta View SDK licensing for healthcare use</a:t>
            </a:r>
          </a:p>
          <a:p>
            <a:pPr>
              <a:spcAft>
                <a:spcPts val="1000"/>
              </a:spcAft>
            </a:pPr>
            <a:r>
              <a:rPr sz="1300"/>
              <a:t>    </a:t>
            </a:r>
            <a:r>
              <a:rPr sz="1300">
                <a:solidFill>
                  <a:srgbClr val="B8C2D8"/>
                </a:solidFill>
                <a:latin typeface="SF Pro Display"/>
              </a:rPr>
              <a:t>Confirm Ray-Ban Meta Smart Glasses SDK terms permit clinical capture. Required before Phase 4 vision wiring on glasses. Owner: CTO.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92640" y="292608"/>
            <a:ext cx="2286000" cy="411480"/>
          </a:xfrm>
          <a:prstGeom prst="rect">
            <a:avLst/>
          </a:prstGeom>
          <a:noFill/>
        </p:spPr>
        <p:txBody>
          <a:bodyPr wrap="none" lIns="0" rIns="0" tIns="0" bIns="0">
            <a:spAutoFit/>
          </a:bodyPr>
          <a:lstStyle/>
          <a:p>
            <a:pPr algn="r"/>
            <a:r>
              <a:rPr sz="1100" b="1">
                <a:solidFill>
                  <a:srgbClr val="D4A64A"/>
                </a:solidFill>
                <a:latin typeface="SF Pro Display"/>
              </a:rPr>
              <a:t>AURION · CLINICAL AI</a:t>
            </a:r>
          </a:p>
        </p:txBody>
      </p:sp>
      <p:sp>
        <p:nvSpPr>
          <p:cNvPr id="4" name="TextBox 3"/>
          <p:cNvSpPr txBox="1"/>
          <p:nvPr/>
        </p:nvSpPr>
        <p:spPr>
          <a:xfrm>
            <a:off x="640080" y="274320"/>
            <a:ext cx="7315200" cy="292608"/>
          </a:xfrm>
          <a:prstGeom prst="rect">
            <a:avLst/>
          </a:prstGeom>
          <a:noFill/>
        </p:spPr>
        <p:txBody>
          <a:bodyPr wrap="none" lIns="0" rIns="0" tIns="0" bIns="0">
            <a:spAutoFit/>
          </a:bodyPr>
          <a:lstStyle/>
          <a:p>
            <a:r>
              <a:rPr sz="1100" b="1">
                <a:solidFill>
                  <a:srgbClr val="D4A64A"/>
                </a:solidFill>
                <a:latin typeface="SF Pro Display"/>
              </a:rPr>
              <a:t>MAY → PILOT KICKOFF</a:t>
            </a:r>
          </a:p>
        </p:txBody>
      </p:sp>
      <p:sp>
        <p:nvSpPr>
          <p:cNvPr id="5" name="TextBox 4"/>
          <p:cNvSpPr txBox="1"/>
          <p:nvPr/>
        </p:nvSpPr>
        <p:spPr>
          <a:xfrm>
            <a:off x="640080" y="502920"/>
            <a:ext cx="10515600" cy="548640"/>
          </a:xfrm>
          <a:prstGeom prst="rect">
            <a:avLst/>
          </a:prstGeom>
          <a:noFill/>
        </p:spPr>
        <p:txBody>
          <a:bodyPr wrap="none" lIns="0" rIns="0" tIns="0" bIns="0">
            <a:spAutoFit/>
          </a:bodyPr>
          <a:lstStyle/>
          <a:p>
            <a:r>
              <a:rPr sz="3000" b="1">
                <a:solidFill>
                  <a:srgbClr val="FFFFFF"/>
                </a:solidFill>
                <a:latin typeface="SF Pro Display"/>
              </a:rPr>
              <a:t>Next Steps</a:t>
            </a:r>
          </a:p>
        </p:txBody>
      </p:sp>
      <p:sp>
        <p:nvSpPr>
          <p:cNvPr id="6" name="Rectangle 5"/>
          <p:cNvSpPr/>
          <p:nvPr/>
        </p:nvSpPr>
        <p:spPr>
          <a:xfrm>
            <a:off x="640080" y="960120"/>
            <a:ext cx="10908792" cy="19050"/>
          </a:xfrm>
          <a:prstGeom prst="rect">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10908792" cy="5212080"/>
          </a:xfrm>
          <a:prstGeom prst="rect">
            <a:avLst/>
          </a:prstGeom>
          <a:noFill/>
        </p:spPr>
        <p:txBody>
          <a:bodyPr wrap="square" lIns="0" rIns="0" tIns="0" bIns="0">
            <a:spAutoFit/>
          </a:bodyPr>
          <a:lstStyle/>
          <a:p>
            <a:pPr>
              <a:spcAft>
                <a:spcPts val="600"/>
              </a:spcAft>
            </a:pPr>
            <a:r>
              <a:rPr sz="1600" b="1">
                <a:solidFill>
                  <a:srgbClr val="D4A64A"/>
                </a:solidFill>
              </a:rPr>
              <a:t>●  </a:t>
            </a:r>
            <a:r>
              <a:rPr sz="1600" b="1">
                <a:solidFill>
                  <a:srgbClr val="FFFFFF"/>
                </a:solidFill>
                <a:latin typeface="SF Pro Display"/>
              </a:rPr>
              <a:t>Close the 4 partial features</a:t>
            </a:r>
          </a:p>
          <a:p>
            <a:pPr>
              <a:spcAft>
                <a:spcPts val="1000"/>
              </a:spcAft>
            </a:pPr>
            <a:r>
              <a:rPr sz="1200"/>
              <a:t>    </a:t>
            </a:r>
            <a:r>
              <a:rPr sz="1200">
                <a:solidFill>
                  <a:srgbClr val="B8C2D8"/>
                </a:solidFill>
                <a:latin typeface="SF Pro Display"/>
              </a:rPr>
              <a:t>Wire voice enrollment to speaker separation · finalize on-device PHI masking audit gate · provision production S3 TTL · build iPad split-view note review.</a:t>
            </a:r>
          </a:p>
          <a:p>
            <a:pPr>
              <a:spcAft>
                <a:spcPts val="600"/>
              </a:spcAft>
            </a:pPr>
            <a:r>
              <a:rPr sz="1600" b="1">
                <a:solidFill>
                  <a:srgbClr val="D4A64A"/>
                </a:solidFill>
              </a:rPr>
              <a:t>●  </a:t>
            </a:r>
            <a:r>
              <a:rPr sz="1600" b="1">
                <a:solidFill>
                  <a:srgbClr val="FFFFFF"/>
                </a:solidFill>
                <a:latin typeface="SF Pro Display"/>
              </a:rPr>
              <a:t>Deploy production AWS (Phase 8)</a:t>
            </a:r>
          </a:p>
          <a:p>
            <a:pPr>
              <a:spcAft>
                <a:spcPts val="1000"/>
              </a:spcAft>
            </a:pPr>
            <a:r>
              <a:rPr sz="1200"/>
              <a:t>    </a:t>
            </a:r>
            <a:r>
              <a:rPr sz="1200">
                <a:solidFill>
                  <a:srgbClr val="B8C2D8"/>
                </a:solidFill>
                <a:latin typeface="SF Pro Display"/>
              </a:rPr>
              <a:t>Apply Terraform stack to ca-central-1 once BAA paperwork is signed. AppConfig live within 30 s.</a:t>
            </a:r>
          </a:p>
          <a:p>
            <a:pPr>
              <a:spcAft>
                <a:spcPts val="600"/>
              </a:spcAft>
            </a:pPr>
            <a:r>
              <a:rPr sz="1600" b="1">
                <a:solidFill>
                  <a:srgbClr val="D4A64A"/>
                </a:solidFill>
              </a:rPr>
              <a:t>●  </a:t>
            </a:r>
            <a:r>
              <a:rPr sz="1600" b="1">
                <a:solidFill>
                  <a:srgbClr val="FFFFFF"/>
                </a:solidFill>
                <a:latin typeface="SF Pro Display"/>
              </a:rPr>
              <a:t>Close open legal items</a:t>
            </a:r>
          </a:p>
          <a:p>
            <a:pPr>
              <a:spcAft>
                <a:spcPts val="1000"/>
              </a:spcAft>
            </a:pPr>
            <a:r>
              <a:rPr sz="1200"/>
              <a:t>    </a:t>
            </a:r>
            <a:r>
              <a:rPr sz="1200">
                <a:solidFill>
                  <a:srgbClr val="B8C2D8"/>
                </a:solidFill>
                <a:latin typeface="SF Pro Display"/>
              </a:rPr>
              <a:t>GPT-4o BAA, frame retention schedule, Meta View SDK licensing.</a:t>
            </a:r>
          </a:p>
          <a:p>
            <a:pPr>
              <a:spcAft>
                <a:spcPts val="600"/>
              </a:spcAft>
            </a:pPr>
            <a:r>
              <a:rPr sz="1600" b="1">
                <a:solidFill>
                  <a:srgbClr val="D4A64A"/>
                </a:solidFill>
              </a:rPr>
              <a:t>●  </a:t>
            </a:r>
            <a:r>
              <a:rPr sz="1600" b="1">
                <a:solidFill>
                  <a:srgbClr val="FFFFFF"/>
                </a:solidFill>
                <a:latin typeface="SF Pro Display"/>
              </a:rPr>
              <a:t>Pilot dry-run with Dr. Perry + Dr. Marie</a:t>
            </a:r>
          </a:p>
          <a:p>
            <a:pPr>
              <a:spcAft>
                <a:spcPts val="1000"/>
              </a:spcAft>
            </a:pPr>
            <a:r>
              <a:rPr sz="1200"/>
              <a:t>    </a:t>
            </a:r>
            <a:r>
              <a:rPr sz="1200">
                <a:solidFill>
                  <a:srgbClr val="B8C2D8"/>
                </a:solidFill>
                <a:latin typeface="SF Pro Display"/>
              </a:rPr>
              <a:t>End-to-end session on real hardware. Validate the 12 primary success criteria before live patient encounters.</a:t>
            </a:r>
          </a:p>
          <a:p>
            <a:pPr>
              <a:spcAft>
                <a:spcPts val="600"/>
              </a:spcAft>
            </a:pPr>
            <a:r>
              <a:rPr sz="1600" b="1">
                <a:solidFill>
                  <a:srgbClr val="D4A64A"/>
                </a:solidFill>
              </a:rPr>
              <a:t>●  </a:t>
            </a:r>
            <a:r>
              <a:rPr sz="1600" b="1">
                <a:solidFill>
                  <a:srgbClr val="FFFFFF"/>
                </a:solidFill>
                <a:latin typeface="SF Pro Display"/>
              </a:rPr>
              <a:t>Record the marketing demo video</a:t>
            </a:r>
          </a:p>
          <a:p>
            <a:pPr>
              <a:spcAft>
                <a:spcPts val="1000"/>
              </a:spcAft>
            </a:pPr>
            <a:r>
              <a:rPr sz="1200"/>
              <a:t>    </a:t>
            </a:r>
            <a:r>
              <a:rPr sz="1200">
                <a:solidFill>
                  <a:srgbClr val="B8C2D8"/>
                </a:solidFill>
                <a:latin typeface="SF Pro Display"/>
              </a:rPr>
              <a:t>On-device capture by physician (Dr. Antoine Tremblay account ready). Compose final 132 s video with narration.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852160" y="2560320"/>
            <a:ext cx="457200" cy="457200"/>
          </a:xfrm>
          <a:prstGeom prst="ellipse">
            <a:avLst/>
          </a:prstGeom>
          <a:solidFill>
            <a:srgbClr val="D4A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108960"/>
            <a:ext cx="10908792" cy="914400"/>
          </a:xfrm>
          <a:prstGeom prst="rect">
            <a:avLst/>
          </a:prstGeom>
          <a:noFill/>
        </p:spPr>
        <p:txBody>
          <a:bodyPr wrap="none">
            <a:spAutoFit/>
          </a:bodyPr>
          <a:lstStyle/>
          <a:p>
            <a:pPr algn="ctr"/>
            <a:r>
              <a:rPr sz="3400" b="1">
                <a:solidFill>
                  <a:srgbClr val="FFFFFF"/>
                </a:solidFill>
              </a:rPr>
              <a:t>From documentation to clinical understanding.</a:t>
            </a:r>
          </a:p>
        </p:txBody>
      </p:sp>
      <p:sp>
        <p:nvSpPr>
          <p:cNvPr id="5" name="TextBox 4"/>
          <p:cNvSpPr txBox="1"/>
          <p:nvPr/>
        </p:nvSpPr>
        <p:spPr>
          <a:xfrm>
            <a:off x="640080" y="4206240"/>
            <a:ext cx="10908792" cy="548640"/>
          </a:xfrm>
          <a:prstGeom prst="rect">
            <a:avLst/>
          </a:prstGeom>
          <a:noFill/>
        </p:spPr>
        <p:txBody>
          <a:bodyPr wrap="none">
            <a:spAutoFit/>
          </a:bodyPr>
          <a:lstStyle/>
          <a:p>
            <a:pPr algn="ctr"/>
            <a:r>
              <a:rPr sz="2000">
                <a:solidFill>
                  <a:srgbClr val="D4A64A"/>
                </a:solidFill>
              </a:rPr>
              <a:t>Questions?</a:t>
            </a:r>
          </a:p>
        </p:txBody>
      </p:sp>
      <p:sp>
        <p:nvSpPr>
          <p:cNvPr id="6" name="TextBox 5"/>
          <p:cNvSpPr txBox="1"/>
          <p:nvPr/>
        </p:nvSpPr>
        <p:spPr>
          <a:xfrm>
            <a:off x="640080" y="6126480"/>
            <a:ext cx="10908792" cy="365760"/>
          </a:xfrm>
          <a:prstGeom prst="rect">
            <a:avLst/>
          </a:prstGeom>
          <a:noFill/>
        </p:spPr>
        <p:txBody>
          <a:bodyPr wrap="none">
            <a:spAutoFit/>
          </a:bodyPr>
          <a:lstStyle/>
          <a:p>
            <a:pPr algn="ctr"/>
            <a:r>
              <a:rPr sz="1000">
                <a:solidFill>
                  <a:srgbClr val="B8C2D8"/>
                </a:solidFill>
              </a:rPr>
              <a:t>AURION CLINICAL AI  ·  TEAM UPDATE  ·  MAY 2026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